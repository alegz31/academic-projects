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League Spartan" panose="020B0604020202020204" charset="0"/>
      <p:regular r:id="rId14"/>
    </p:embeddedFont>
    <p:embeddedFont>
      <p:font typeface="Poppins" panose="00000500000000000000" pitchFamily="2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77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1130300" y="4057750"/>
            <a:ext cx="3086100" cy="2171499"/>
            <a:chOff x="0" y="0"/>
            <a:chExt cx="812800" cy="57191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571917"/>
            </a:xfrm>
            <a:custGeom>
              <a:avLst/>
              <a:gdLst/>
              <a:ahLst/>
              <a:cxnLst/>
              <a:rect l="l" t="t" r="r" b="b"/>
              <a:pathLst>
                <a:path w="812800" h="571917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467343" y="4057750"/>
            <a:ext cx="3086100" cy="2171499"/>
            <a:chOff x="0" y="0"/>
            <a:chExt cx="812800" cy="57191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571917"/>
            </a:xfrm>
            <a:custGeom>
              <a:avLst/>
              <a:gdLst/>
              <a:ahLst/>
              <a:cxnLst/>
              <a:rect l="l" t="t" r="r" b="b"/>
              <a:pathLst>
                <a:path w="812800" h="571917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7957454" y="369532"/>
            <a:ext cx="2373092" cy="2432419"/>
          </a:xfrm>
          <a:custGeom>
            <a:avLst/>
            <a:gdLst/>
            <a:ahLst/>
            <a:cxnLst/>
            <a:rect l="l" t="t" r="r" b="b"/>
            <a:pathLst>
              <a:path w="2373092" h="2432419">
                <a:moveTo>
                  <a:pt x="0" y="0"/>
                </a:moveTo>
                <a:lnTo>
                  <a:pt x="2373092" y="0"/>
                </a:lnTo>
                <a:lnTo>
                  <a:pt x="2373092" y="2432420"/>
                </a:lnTo>
                <a:lnTo>
                  <a:pt x="0" y="24324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3269791" y="3285281"/>
            <a:ext cx="11748419" cy="3621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56"/>
              </a:lnSpc>
            </a:pPr>
            <a:r>
              <a:rPr lang="en-US" sz="5183" b="1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ANALIZA AUTOMATĂ A GANGLIONILOR LIMFATICI UTILIZÂND DEEP LEARNING ȘI COMPUTER VISION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804477" y="6998998"/>
            <a:ext cx="8679046" cy="9421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23"/>
              </a:lnSpc>
              <a:spcBef>
                <a:spcPct val="0"/>
              </a:spcBef>
            </a:pPr>
            <a:r>
              <a:rPr lang="en-US" sz="265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Sistem de Asistență la Diagnostic (B-Mode, Doppler, Elastografie)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8316198"/>
            <a:ext cx="4309328" cy="9421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23"/>
              </a:lnSpc>
            </a:pPr>
            <a:r>
              <a:rPr lang="en-US" sz="265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Molnar Andrei Alexandru</a:t>
            </a:r>
          </a:p>
          <a:p>
            <a:pPr algn="l">
              <a:lnSpc>
                <a:spcPts val="3723"/>
              </a:lnSpc>
              <a:spcBef>
                <a:spcPct val="0"/>
              </a:spcBef>
            </a:pPr>
            <a:r>
              <a:rPr lang="en-US" sz="265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Grupa 6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8992739" cy="10287000"/>
            <a:chOff x="0" y="0"/>
            <a:chExt cx="2368458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68458" cy="2709333"/>
            </a:xfrm>
            <a:custGeom>
              <a:avLst/>
              <a:gdLst/>
              <a:ahLst/>
              <a:cxnLst/>
              <a:rect l="l" t="t" r="r" b="b"/>
              <a:pathLst>
                <a:path w="2368458" h="2709333">
                  <a:moveTo>
                    <a:pt x="0" y="0"/>
                  </a:moveTo>
                  <a:lnTo>
                    <a:pt x="2368458" y="0"/>
                  </a:lnTo>
                  <a:lnTo>
                    <a:pt x="236845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2368458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5446818" y="8630505"/>
            <a:ext cx="897167" cy="2183545"/>
            <a:chOff x="0" y="0"/>
            <a:chExt cx="236291" cy="5750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36291" cy="575090"/>
            </a:xfrm>
            <a:custGeom>
              <a:avLst/>
              <a:gdLst/>
              <a:ahLst/>
              <a:cxnLst/>
              <a:rect l="l" t="t" r="r" b="b"/>
              <a:pathLst>
                <a:path w="236291" h="575090">
                  <a:moveTo>
                    <a:pt x="118145" y="0"/>
                  </a:moveTo>
                  <a:lnTo>
                    <a:pt x="118145" y="0"/>
                  </a:lnTo>
                  <a:cubicBezTo>
                    <a:pt x="183395" y="0"/>
                    <a:pt x="236291" y="52895"/>
                    <a:pt x="236291" y="118145"/>
                  </a:cubicBezTo>
                  <a:lnTo>
                    <a:pt x="236291" y="456945"/>
                  </a:lnTo>
                  <a:cubicBezTo>
                    <a:pt x="236291" y="488279"/>
                    <a:pt x="223843" y="518330"/>
                    <a:pt x="201687" y="540486"/>
                  </a:cubicBezTo>
                  <a:cubicBezTo>
                    <a:pt x="179530" y="562643"/>
                    <a:pt x="149480" y="575090"/>
                    <a:pt x="118145" y="575090"/>
                  </a:cubicBezTo>
                  <a:lnTo>
                    <a:pt x="118145" y="575090"/>
                  </a:lnTo>
                  <a:cubicBezTo>
                    <a:pt x="86811" y="575090"/>
                    <a:pt x="56761" y="562643"/>
                    <a:pt x="34604" y="540486"/>
                  </a:cubicBezTo>
                  <a:cubicBezTo>
                    <a:pt x="12447" y="518330"/>
                    <a:pt x="0" y="488279"/>
                    <a:pt x="0" y="456945"/>
                  </a:cubicBezTo>
                  <a:lnTo>
                    <a:pt x="0" y="118145"/>
                  </a:lnTo>
                  <a:cubicBezTo>
                    <a:pt x="0" y="86811"/>
                    <a:pt x="12447" y="56761"/>
                    <a:pt x="34604" y="34604"/>
                  </a:cubicBezTo>
                  <a:cubicBezTo>
                    <a:pt x="56761" y="12447"/>
                    <a:pt x="86811" y="0"/>
                    <a:pt x="11814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236291" cy="6227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308804" y="3106799"/>
            <a:ext cx="7239762" cy="4073403"/>
            <a:chOff x="0" y="0"/>
            <a:chExt cx="24389080" cy="13722350"/>
          </a:xfrm>
        </p:grpSpPr>
        <p:sp>
          <p:nvSpPr>
            <p:cNvPr id="10" name="Freeform 10"/>
            <p:cNvSpPr/>
            <p:nvPr/>
          </p:nvSpPr>
          <p:spPr>
            <a:xfrm>
              <a:off x="22191" y="16510"/>
              <a:ext cx="24322307" cy="13686284"/>
            </a:xfrm>
            <a:custGeom>
              <a:avLst/>
              <a:gdLst/>
              <a:ahLst/>
              <a:cxnLst/>
              <a:rect l="l" t="t" r="r" b="b"/>
              <a:pathLst>
                <a:path w="24322307" h="13686284">
                  <a:moveTo>
                    <a:pt x="24316089" y="474980"/>
                  </a:moveTo>
                  <a:cubicBezTo>
                    <a:pt x="24311009" y="642620"/>
                    <a:pt x="24340220" y="13134340"/>
                    <a:pt x="24303389" y="13348970"/>
                  </a:cubicBezTo>
                  <a:cubicBezTo>
                    <a:pt x="24266559" y="13563601"/>
                    <a:pt x="24023989" y="13681710"/>
                    <a:pt x="23814439" y="13681710"/>
                  </a:cubicBezTo>
                  <a:cubicBezTo>
                    <a:pt x="23669659" y="13663931"/>
                    <a:pt x="950629" y="13704570"/>
                    <a:pt x="374050" y="13675360"/>
                  </a:cubicBezTo>
                  <a:cubicBezTo>
                    <a:pt x="220380" y="13667740"/>
                    <a:pt x="28610" y="13463270"/>
                    <a:pt x="17180" y="13285470"/>
                  </a:cubicBezTo>
                  <a:cubicBezTo>
                    <a:pt x="5750" y="13107670"/>
                    <a:pt x="4479" y="521970"/>
                    <a:pt x="669" y="480060"/>
                  </a:cubicBezTo>
                  <a:cubicBezTo>
                    <a:pt x="-12031" y="321310"/>
                    <a:pt x="156879" y="3810"/>
                    <a:pt x="441359" y="7620"/>
                  </a:cubicBezTo>
                  <a:cubicBezTo>
                    <a:pt x="441359" y="7620"/>
                    <a:pt x="23856348" y="0"/>
                    <a:pt x="23856348" y="0"/>
                  </a:cubicBezTo>
                  <a:cubicBezTo>
                    <a:pt x="24242429" y="35560"/>
                    <a:pt x="24317359" y="331470"/>
                    <a:pt x="24317359" y="474980"/>
                  </a:cubicBezTo>
                  <a:close/>
                </a:path>
              </a:pathLst>
            </a:custGeom>
            <a:blipFill>
              <a:blip r:embed="rId3"/>
              <a:stretch>
                <a:fillRect t="-17530" b="-17530"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>
              <a:off x="-29" y="0"/>
              <a:ext cx="24390440" cy="13722963"/>
            </a:xfrm>
            <a:custGeom>
              <a:avLst/>
              <a:gdLst/>
              <a:ahLst/>
              <a:cxnLst/>
              <a:rect l="l" t="t" r="r" b="b"/>
              <a:pathLst>
                <a:path w="24390440" h="13722963">
                  <a:moveTo>
                    <a:pt x="24362440" y="490220"/>
                  </a:moveTo>
                  <a:cubicBezTo>
                    <a:pt x="24362440" y="346710"/>
                    <a:pt x="24296400" y="203200"/>
                    <a:pt x="24184640" y="113030"/>
                  </a:cubicBezTo>
                  <a:cubicBezTo>
                    <a:pt x="24097009" y="39370"/>
                    <a:pt x="23986518" y="0"/>
                    <a:pt x="23872218" y="0"/>
                  </a:cubicBezTo>
                  <a:cubicBezTo>
                    <a:pt x="23872218" y="0"/>
                    <a:pt x="497868" y="0"/>
                    <a:pt x="497868" y="0"/>
                  </a:cubicBezTo>
                  <a:cubicBezTo>
                    <a:pt x="377218" y="0"/>
                    <a:pt x="261648" y="44450"/>
                    <a:pt x="172748" y="123190"/>
                  </a:cubicBezTo>
                  <a:cubicBezTo>
                    <a:pt x="68609" y="214630"/>
                    <a:pt x="7649" y="350520"/>
                    <a:pt x="7649" y="490220"/>
                  </a:cubicBezTo>
                  <a:cubicBezTo>
                    <a:pt x="30509" y="640080"/>
                    <a:pt x="-36801" y="13243561"/>
                    <a:pt x="31779" y="13376911"/>
                  </a:cubicBezTo>
                  <a:cubicBezTo>
                    <a:pt x="82579" y="13539470"/>
                    <a:pt x="222279" y="13666470"/>
                    <a:pt x="387379" y="13703300"/>
                  </a:cubicBezTo>
                  <a:cubicBezTo>
                    <a:pt x="463579" y="13749020"/>
                    <a:pt x="23776968" y="13698220"/>
                    <a:pt x="23873490" y="13716000"/>
                  </a:cubicBezTo>
                  <a:cubicBezTo>
                    <a:pt x="24083040" y="13716000"/>
                    <a:pt x="24269729" y="13582650"/>
                    <a:pt x="24337040" y="13383261"/>
                  </a:cubicBezTo>
                  <a:cubicBezTo>
                    <a:pt x="24475470" y="13201650"/>
                    <a:pt x="24292590" y="675640"/>
                    <a:pt x="24363709" y="488950"/>
                  </a:cubicBezTo>
                  <a:close/>
                  <a:moveTo>
                    <a:pt x="24300209" y="13371830"/>
                  </a:moveTo>
                  <a:cubicBezTo>
                    <a:pt x="24237979" y="13554711"/>
                    <a:pt x="24066529" y="13677900"/>
                    <a:pt x="23872220" y="13677900"/>
                  </a:cubicBezTo>
                  <a:cubicBezTo>
                    <a:pt x="23733790" y="13655041"/>
                    <a:pt x="513109" y="13708380"/>
                    <a:pt x="396269" y="13666470"/>
                  </a:cubicBezTo>
                  <a:cubicBezTo>
                    <a:pt x="195609" y="13623291"/>
                    <a:pt x="41939" y="13431520"/>
                    <a:pt x="45749" y="13227050"/>
                  </a:cubicBezTo>
                  <a:cubicBezTo>
                    <a:pt x="45749" y="13227050"/>
                    <a:pt x="45749" y="490220"/>
                    <a:pt x="45749" y="490220"/>
                  </a:cubicBezTo>
                  <a:cubicBezTo>
                    <a:pt x="45749" y="361950"/>
                    <a:pt x="101629" y="236220"/>
                    <a:pt x="198149" y="152400"/>
                  </a:cubicBezTo>
                  <a:cubicBezTo>
                    <a:pt x="280699" y="78740"/>
                    <a:pt x="387379" y="38100"/>
                    <a:pt x="497869" y="38100"/>
                  </a:cubicBezTo>
                  <a:cubicBezTo>
                    <a:pt x="497869" y="38100"/>
                    <a:pt x="23872220" y="38100"/>
                    <a:pt x="23872220" y="38100"/>
                  </a:cubicBezTo>
                  <a:cubicBezTo>
                    <a:pt x="24081770" y="35560"/>
                    <a:pt x="24278620" y="194310"/>
                    <a:pt x="24315449" y="402590"/>
                  </a:cubicBezTo>
                  <a:cubicBezTo>
                    <a:pt x="24309099" y="651510"/>
                    <a:pt x="24368790" y="13135609"/>
                    <a:pt x="24300209" y="13371830"/>
                  </a:cubicBezTo>
                  <a:close/>
                  <a:moveTo>
                    <a:pt x="21292849" y="292100"/>
                  </a:moveTo>
                  <a:lnTo>
                    <a:pt x="6668799" y="292100"/>
                  </a:lnTo>
                  <a:lnTo>
                    <a:pt x="6079519" y="834390"/>
                  </a:lnTo>
                  <a:lnTo>
                    <a:pt x="3540789" y="834390"/>
                  </a:lnTo>
                  <a:lnTo>
                    <a:pt x="2951509" y="292100"/>
                  </a:lnTo>
                  <a:lnTo>
                    <a:pt x="497869" y="292100"/>
                  </a:lnTo>
                  <a:cubicBezTo>
                    <a:pt x="435639" y="292100"/>
                    <a:pt x="392459" y="318770"/>
                    <a:pt x="368329" y="341630"/>
                  </a:cubicBezTo>
                  <a:lnTo>
                    <a:pt x="381029" y="355600"/>
                  </a:lnTo>
                  <a:lnTo>
                    <a:pt x="367059" y="342900"/>
                  </a:lnTo>
                  <a:cubicBezTo>
                    <a:pt x="365789" y="344170"/>
                    <a:pt x="351819" y="356870"/>
                    <a:pt x="349279" y="359410"/>
                  </a:cubicBezTo>
                  <a:lnTo>
                    <a:pt x="842039" y="937260"/>
                  </a:lnTo>
                  <a:lnTo>
                    <a:pt x="842039" y="12879070"/>
                  </a:lnTo>
                  <a:lnTo>
                    <a:pt x="5481349" y="12879070"/>
                  </a:lnTo>
                  <a:lnTo>
                    <a:pt x="5880129" y="13423900"/>
                  </a:lnTo>
                  <a:lnTo>
                    <a:pt x="21803390" y="13423900"/>
                  </a:lnTo>
                  <a:cubicBezTo>
                    <a:pt x="21807200" y="13418820"/>
                    <a:pt x="23522970" y="11282680"/>
                    <a:pt x="23526779" y="11277600"/>
                  </a:cubicBezTo>
                  <a:lnTo>
                    <a:pt x="23526779" y="834390"/>
                  </a:lnTo>
                  <a:lnTo>
                    <a:pt x="21880859" y="834390"/>
                  </a:lnTo>
                  <a:lnTo>
                    <a:pt x="21291579" y="292100"/>
                  </a:lnTo>
                  <a:close/>
                  <a:moveTo>
                    <a:pt x="23489949" y="11263630"/>
                  </a:moveTo>
                  <a:lnTo>
                    <a:pt x="21785609" y="13385800"/>
                  </a:lnTo>
                  <a:lnTo>
                    <a:pt x="5900449" y="13385800"/>
                  </a:lnTo>
                  <a:lnTo>
                    <a:pt x="5501669" y="12840970"/>
                  </a:lnTo>
                  <a:lnTo>
                    <a:pt x="880139" y="12840970"/>
                  </a:lnTo>
                  <a:lnTo>
                    <a:pt x="880139" y="922020"/>
                  </a:lnTo>
                  <a:lnTo>
                    <a:pt x="402619" y="361950"/>
                  </a:lnTo>
                  <a:cubicBezTo>
                    <a:pt x="422939" y="345440"/>
                    <a:pt x="454689" y="330200"/>
                    <a:pt x="497869" y="330200"/>
                  </a:cubicBezTo>
                  <a:lnTo>
                    <a:pt x="2937539" y="330200"/>
                  </a:lnTo>
                  <a:lnTo>
                    <a:pt x="3526819" y="872490"/>
                  </a:lnTo>
                  <a:lnTo>
                    <a:pt x="6094759" y="872490"/>
                  </a:lnTo>
                  <a:lnTo>
                    <a:pt x="6684039" y="330200"/>
                  </a:lnTo>
                  <a:lnTo>
                    <a:pt x="21278879" y="330200"/>
                  </a:lnTo>
                  <a:lnTo>
                    <a:pt x="21868158" y="872490"/>
                  </a:lnTo>
                  <a:lnTo>
                    <a:pt x="23491218" y="872490"/>
                  </a:lnTo>
                  <a:lnTo>
                    <a:pt x="23491218" y="11263630"/>
                  </a:lnTo>
                  <a:close/>
                </a:path>
              </a:pathLst>
            </a:custGeom>
            <a:solidFill>
              <a:srgbClr val="303642"/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709411" y="828499"/>
            <a:ext cx="4360836" cy="1675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74"/>
              </a:lnSpc>
            </a:pPr>
            <a:r>
              <a:rPr lang="en-US" sz="4838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CONTEXTUL ȘI PROBLEMA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09411" y="2808869"/>
            <a:ext cx="7000111" cy="1117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6"/>
              </a:lnSpc>
              <a:spcBef>
                <a:spcPct val="0"/>
              </a:spcBef>
            </a:pPr>
            <a:r>
              <a:rPr lang="en-US" sz="212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Rolul Ganglionilor: Santinele ale sistemului imunitar, indicatori pentru metastaze (cancer tiroidian, mamar).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09411" y="4282425"/>
            <a:ext cx="7000111" cy="746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6"/>
              </a:lnSpc>
              <a:spcBef>
                <a:spcPct val="0"/>
              </a:spcBef>
            </a:pPr>
            <a:r>
              <a:rPr lang="en-US" sz="212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Metoda Actuală: Ecografia este non-invazivă, dar subiectivă.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09411" y="7161112"/>
            <a:ext cx="7000111" cy="1117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6"/>
              </a:lnSpc>
              <a:spcBef>
                <a:spcPct val="0"/>
              </a:spcBef>
            </a:pPr>
            <a:r>
              <a:rPr lang="en-US" sz="212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Obiectiv: Automatizarea măsurătorilor (Formă, Vascularizație, Rigiditate) pentru un diagnostic obiectiv.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09411" y="5536031"/>
            <a:ext cx="7000111" cy="1117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6"/>
              </a:lnSpc>
              <a:spcBef>
                <a:spcPct val="0"/>
              </a:spcBef>
            </a:pPr>
            <a:r>
              <a:rPr lang="en-US" sz="212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Problema Tehnică: Variabilitatea interpretării între medici (experiență, oboseală) și erori de măsurare manuală.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8997950"/>
            <a:ext cx="2514600" cy="260350"/>
            <a:chOff x="0" y="0"/>
            <a:chExt cx="662281" cy="6857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2281" cy="68570"/>
            </a:xfrm>
            <a:custGeom>
              <a:avLst/>
              <a:gdLst/>
              <a:ahLst/>
              <a:cxnLst/>
              <a:rect l="l" t="t" r="r" b="b"/>
              <a:pathLst>
                <a:path w="662281" h="68570">
                  <a:moveTo>
                    <a:pt x="0" y="0"/>
                  </a:moveTo>
                  <a:lnTo>
                    <a:pt x="662281" y="0"/>
                  </a:lnTo>
                  <a:lnTo>
                    <a:pt x="662281" y="68570"/>
                  </a:lnTo>
                  <a:lnTo>
                    <a:pt x="0" y="6857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662281" cy="1161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7940625" y="2615810"/>
            <a:ext cx="9318675" cy="5055381"/>
          </a:xfrm>
          <a:custGeom>
            <a:avLst/>
            <a:gdLst/>
            <a:ahLst/>
            <a:cxnLst/>
            <a:rect l="l" t="t" r="r" b="b"/>
            <a:pathLst>
              <a:path w="9318675" h="5055381">
                <a:moveTo>
                  <a:pt x="0" y="0"/>
                </a:moveTo>
                <a:lnTo>
                  <a:pt x="9318675" y="0"/>
                </a:lnTo>
                <a:lnTo>
                  <a:pt x="9318675" y="5055380"/>
                </a:lnTo>
                <a:lnTo>
                  <a:pt x="0" y="5055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28700" y="1079828"/>
            <a:ext cx="4563303" cy="2116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59"/>
              </a:lnSpc>
            </a:pPr>
            <a:r>
              <a:rPr lang="en-US" sz="4042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ARHITECTURA SISTEMULUI (TECH STACK)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3661654"/>
            <a:ext cx="5945130" cy="1185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0"/>
              </a:lnSpc>
              <a:spcBef>
                <a:spcPct val="0"/>
              </a:spcBef>
            </a:pPr>
            <a:r>
              <a:rPr lang="en-US" sz="224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Obiectiv: Automatizarea completă a fluxului de analiză (Detecție -&gt; Analiză -&gt; Diagnostic).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5323451"/>
            <a:ext cx="5634574" cy="746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6"/>
              </a:lnSpc>
              <a:spcBef>
                <a:spcPct val="0"/>
              </a:spcBef>
            </a:pPr>
            <a:r>
              <a:rPr lang="en-US" sz="21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Model AI: Mask R-CNN (Detectron2) cu backbone ResNet-50.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6520950"/>
            <a:ext cx="5634574" cy="1117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6"/>
              </a:lnSpc>
              <a:spcBef>
                <a:spcPct val="0"/>
              </a:spcBef>
            </a:pPr>
            <a:r>
              <a:rPr lang="en-US" sz="21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Tehnică: Transfer Learning (Fine-tuning pe imagini medicale pornind de la COCO dataset).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9814219" y="0"/>
            <a:ext cx="8473781" cy="10287000"/>
            <a:chOff x="0" y="0"/>
            <a:chExt cx="2231778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231778" cy="2709333"/>
            </a:xfrm>
            <a:custGeom>
              <a:avLst/>
              <a:gdLst/>
              <a:ahLst/>
              <a:cxnLst/>
              <a:rect l="l" t="t" r="r" b="b"/>
              <a:pathLst>
                <a:path w="2231778" h="2709333">
                  <a:moveTo>
                    <a:pt x="0" y="0"/>
                  </a:moveTo>
                  <a:lnTo>
                    <a:pt x="2231778" y="0"/>
                  </a:lnTo>
                  <a:lnTo>
                    <a:pt x="223177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2231778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800966" y="2006345"/>
            <a:ext cx="1601933" cy="6466659"/>
            <a:chOff x="0" y="0"/>
            <a:chExt cx="421908" cy="170315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21908" cy="1703153"/>
            </a:xfrm>
            <a:custGeom>
              <a:avLst/>
              <a:gdLst/>
              <a:ahLst/>
              <a:cxnLst/>
              <a:rect l="l" t="t" r="r" b="b"/>
              <a:pathLst>
                <a:path w="421908" h="1703153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102718" y="3344263"/>
            <a:ext cx="8341384" cy="3732769"/>
          </a:xfrm>
          <a:custGeom>
            <a:avLst/>
            <a:gdLst/>
            <a:ahLst/>
            <a:cxnLst/>
            <a:rect l="l" t="t" r="r" b="b"/>
            <a:pathLst>
              <a:path w="8341384" h="3732769">
                <a:moveTo>
                  <a:pt x="0" y="0"/>
                </a:moveTo>
                <a:lnTo>
                  <a:pt x="8341383" y="0"/>
                </a:lnTo>
                <a:lnTo>
                  <a:pt x="8341383" y="3732769"/>
                </a:lnTo>
                <a:lnTo>
                  <a:pt x="0" y="37327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0375196" y="3478559"/>
            <a:ext cx="6929773" cy="7289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72"/>
              </a:lnSpc>
              <a:spcBef>
                <a:spcPct val="0"/>
              </a:spcBef>
            </a:pPr>
            <a:r>
              <a:rPr lang="en-US" sz="20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Sursa Datelor: Imagini reale, eterogene (aparate diferite).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375196" y="4817363"/>
            <a:ext cx="6929773" cy="7289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72"/>
              </a:lnSpc>
              <a:spcBef>
                <a:spcPct val="0"/>
              </a:spcBef>
            </a:pPr>
            <a:r>
              <a:rPr lang="en-US" sz="20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Ground Truth: Adnotări manuale (format JSON/VIA) realizate de medici specialiști.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375196" y="6156167"/>
            <a:ext cx="7091742" cy="2123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92"/>
              </a:lnSpc>
            </a:pPr>
            <a:r>
              <a:rPr lang="en-US" sz="206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Contribuție Proprie: Algoritm de Parsing &amp; Conversie:</a:t>
            </a:r>
          </a:p>
          <a:p>
            <a:pPr algn="just">
              <a:lnSpc>
                <a:spcPts val="2892"/>
              </a:lnSpc>
            </a:pPr>
            <a:endParaRPr lang="en-US" sz="2066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46120" lvl="1" indent="-223060" algn="just">
              <a:lnSpc>
                <a:spcPts val="2892"/>
              </a:lnSpc>
              <a:buFont typeface="Arial"/>
              <a:buChar char="•"/>
            </a:pPr>
            <a:r>
              <a:rPr lang="en-US" sz="206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Citire coordonate poligonale din JSON.</a:t>
            </a:r>
          </a:p>
          <a:p>
            <a:pPr algn="just">
              <a:lnSpc>
                <a:spcPts val="2892"/>
              </a:lnSpc>
            </a:pPr>
            <a:endParaRPr lang="en-US" sz="2066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46120" lvl="1" indent="-223060" algn="just">
              <a:lnSpc>
                <a:spcPts val="2892"/>
              </a:lnSpc>
              <a:buFont typeface="Arial"/>
              <a:buChar char="•"/>
            </a:pPr>
            <a:r>
              <a:rPr lang="en-US" sz="206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Generare măști binare pentru antrenare.</a:t>
            </a:r>
          </a:p>
          <a:p>
            <a:pPr algn="just">
              <a:lnSpc>
                <a:spcPts val="2472"/>
              </a:lnSpc>
              <a:spcBef>
                <a:spcPct val="0"/>
              </a:spcBef>
            </a:pPr>
            <a:endParaRPr lang="en-US" sz="2066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9279974" y="737404"/>
            <a:ext cx="8024995" cy="1623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591"/>
              </a:lnSpc>
            </a:pPr>
            <a:r>
              <a:rPr lang="en-US" sz="4708" b="1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PREGĂTIREA DATELOR (DATA CURATION)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8992739" cy="10287000"/>
            <a:chOff x="0" y="0"/>
            <a:chExt cx="2368458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68458" cy="2709333"/>
            </a:xfrm>
            <a:custGeom>
              <a:avLst/>
              <a:gdLst/>
              <a:ahLst/>
              <a:cxnLst/>
              <a:rect l="l" t="t" r="r" b="b"/>
              <a:pathLst>
                <a:path w="2368458" h="2709333">
                  <a:moveTo>
                    <a:pt x="0" y="0"/>
                  </a:moveTo>
                  <a:lnTo>
                    <a:pt x="2368458" y="0"/>
                  </a:lnTo>
                  <a:lnTo>
                    <a:pt x="236845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2368458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543607" y="8641698"/>
            <a:ext cx="897167" cy="2183545"/>
            <a:chOff x="0" y="0"/>
            <a:chExt cx="236291" cy="5750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36291" cy="575090"/>
            </a:xfrm>
            <a:custGeom>
              <a:avLst/>
              <a:gdLst/>
              <a:ahLst/>
              <a:cxnLst/>
              <a:rect l="l" t="t" r="r" b="b"/>
              <a:pathLst>
                <a:path w="236291" h="575090">
                  <a:moveTo>
                    <a:pt x="118145" y="0"/>
                  </a:moveTo>
                  <a:lnTo>
                    <a:pt x="118145" y="0"/>
                  </a:lnTo>
                  <a:cubicBezTo>
                    <a:pt x="183395" y="0"/>
                    <a:pt x="236291" y="52895"/>
                    <a:pt x="236291" y="118145"/>
                  </a:cubicBezTo>
                  <a:lnTo>
                    <a:pt x="236291" y="456945"/>
                  </a:lnTo>
                  <a:cubicBezTo>
                    <a:pt x="236291" y="488279"/>
                    <a:pt x="223843" y="518330"/>
                    <a:pt x="201687" y="540486"/>
                  </a:cubicBezTo>
                  <a:cubicBezTo>
                    <a:pt x="179530" y="562643"/>
                    <a:pt x="149480" y="575090"/>
                    <a:pt x="118145" y="575090"/>
                  </a:cubicBezTo>
                  <a:lnTo>
                    <a:pt x="118145" y="575090"/>
                  </a:lnTo>
                  <a:cubicBezTo>
                    <a:pt x="86811" y="575090"/>
                    <a:pt x="56761" y="562643"/>
                    <a:pt x="34604" y="540486"/>
                  </a:cubicBezTo>
                  <a:cubicBezTo>
                    <a:pt x="12447" y="518330"/>
                    <a:pt x="0" y="488279"/>
                    <a:pt x="0" y="456945"/>
                  </a:cubicBezTo>
                  <a:lnTo>
                    <a:pt x="0" y="118145"/>
                  </a:lnTo>
                  <a:cubicBezTo>
                    <a:pt x="0" y="86811"/>
                    <a:pt x="12447" y="56761"/>
                    <a:pt x="34604" y="34604"/>
                  </a:cubicBezTo>
                  <a:cubicBezTo>
                    <a:pt x="56761" y="12447"/>
                    <a:pt x="86811" y="0"/>
                    <a:pt x="11814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236291" cy="6227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709411" y="828499"/>
            <a:ext cx="6196725" cy="1675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74"/>
              </a:lnSpc>
            </a:pPr>
            <a:r>
              <a:rPr lang="en-US" sz="4838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ANTRENAREA MODELULUI AI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09411" y="2801554"/>
            <a:ext cx="7731363" cy="58401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42177" lvl="1" indent="-221088" algn="l">
              <a:lnSpc>
                <a:spcPts val="2867"/>
              </a:lnSpc>
              <a:buFont typeface="Arial"/>
              <a:buChar char="•"/>
            </a:pPr>
            <a:r>
              <a:rPr lang="en-US" sz="204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Tipul de Învățare: Învățare Supervizată (Supervised Learning).</a:t>
            </a:r>
          </a:p>
          <a:p>
            <a:pPr algn="l">
              <a:lnSpc>
                <a:spcPts val="2867"/>
              </a:lnSpc>
            </a:pPr>
            <a:endParaRPr lang="en-US" sz="2048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42177" lvl="1" indent="-221088" algn="l">
              <a:lnSpc>
                <a:spcPts val="2867"/>
              </a:lnSpc>
              <a:buFont typeface="Arial"/>
              <a:buChar char="•"/>
            </a:pPr>
            <a:r>
              <a:rPr lang="en-US" sz="204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Procesul de Antrenament:</a:t>
            </a:r>
          </a:p>
          <a:p>
            <a:pPr marL="442177" lvl="1" indent="-221088" algn="l">
              <a:lnSpc>
                <a:spcPts val="2867"/>
              </a:lnSpc>
              <a:buAutoNum type="arabicPeriod"/>
            </a:pPr>
            <a:r>
              <a:rPr lang="en-US" sz="204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Input: Imaginea ecografică + Masca corectă (Ground Truth de la medic).</a:t>
            </a:r>
          </a:p>
          <a:p>
            <a:pPr marL="442177" lvl="1" indent="-221088" algn="l">
              <a:lnSpc>
                <a:spcPts val="2867"/>
              </a:lnSpc>
              <a:buAutoNum type="arabicPeriod"/>
            </a:pPr>
            <a:r>
              <a:rPr lang="en-US" sz="204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Extragerea Trăsăturilor: Rețeaua (ResNet-50) „învață” texturile specifice țesutului limfatic și diferența față de mușchi/grăsime.</a:t>
            </a:r>
          </a:p>
          <a:p>
            <a:pPr marL="442177" lvl="1" indent="-221088" algn="l">
              <a:lnSpc>
                <a:spcPts val="2867"/>
              </a:lnSpc>
              <a:buAutoNum type="arabicPeriod"/>
            </a:pPr>
            <a:r>
              <a:rPr lang="en-US" sz="204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Ajustarea Greutăților: Prin mii de iterații, modelul își corectează erorile (Fine-tuning).</a:t>
            </a:r>
          </a:p>
          <a:p>
            <a:pPr algn="l">
              <a:lnSpc>
                <a:spcPts val="2867"/>
              </a:lnSpc>
            </a:pPr>
            <a:endParaRPr lang="en-US" sz="2048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42177" lvl="1" indent="-221088" algn="l">
              <a:lnSpc>
                <a:spcPts val="2867"/>
              </a:lnSpc>
              <a:spcBef>
                <a:spcPct val="0"/>
              </a:spcBef>
              <a:buFont typeface="Arial"/>
              <a:buChar char="•"/>
            </a:pPr>
            <a:r>
              <a:rPr lang="en-US" sz="204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Rezultatul: Un model AI independent, capabil să prezică conturul exact al ganglionului pe imagini complet noi, pe care nu le-a mai văzut niciodată.</a:t>
            </a:r>
          </a:p>
          <a:p>
            <a:pPr algn="l">
              <a:lnSpc>
                <a:spcPts val="3287"/>
              </a:lnSpc>
              <a:spcBef>
                <a:spcPct val="0"/>
              </a:spcBef>
            </a:pPr>
            <a:endParaRPr lang="en-US" sz="2048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17487034" y="1910171"/>
            <a:ext cx="1601933" cy="6466659"/>
            <a:chOff x="0" y="0"/>
            <a:chExt cx="421908" cy="170315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21908" cy="1703153"/>
            </a:xfrm>
            <a:custGeom>
              <a:avLst/>
              <a:gdLst/>
              <a:ahLst/>
              <a:cxnLst/>
              <a:rect l="l" t="t" r="r" b="b"/>
              <a:pathLst>
                <a:path w="421908" h="1703153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9284211" y="3951853"/>
            <a:ext cx="7911352" cy="2383295"/>
          </a:xfrm>
          <a:custGeom>
            <a:avLst/>
            <a:gdLst/>
            <a:ahLst/>
            <a:cxnLst/>
            <a:rect l="l" t="t" r="r" b="b"/>
            <a:pathLst>
              <a:path w="7911352" h="2383295">
                <a:moveTo>
                  <a:pt x="0" y="0"/>
                </a:moveTo>
                <a:lnTo>
                  <a:pt x="7911351" y="0"/>
                </a:lnTo>
                <a:lnTo>
                  <a:pt x="7911351" y="2383294"/>
                </a:lnTo>
                <a:lnTo>
                  <a:pt x="0" y="23832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1574715" y="0"/>
            <a:ext cx="6713285" cy="10287000"/>
            <a:chOff x="0" y="0"/>
            <a:chExt cx="1768108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68108" cy="2709333"/>
            </a:xfrm>
            <a:custGeom>
              <a:avLst/>
              <a:gdLst/>
              <a:ahLst/>
              <a:cxnLst/>
              <a:rect l="l" t="t" r="r" b="b"/>
              <a:pathLst>
                <a:path w="1768108" h="2709333">
                  <a:moveTo>
                    <a:pt x="0" y="0"/>
                  </a:moveTo>
                  <a:lnTo>
                    <a:pt x="1768108" y="0"/>
                  </a:lnTo>
                  <a:lnTo>
                    <a:pt x="176810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768108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640583" y="1606753"/>
            <a:ext cx="1868266" cy="1868266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640583" y="4210291"/>
            <a:ext cx="1868266" cy="1868266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640583" y="6811982"/>
            <a:ext cx="1868266" cy="1868266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970541" y="2006345"/>
            <a:ext cx="1601933" cy="6466659"/>
            <a:chOff x="0" y="0"/>
            <a:chExt cx="421908" cy="170315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21908" cy="1703153"/>
            </a:xfrm>
            <a:custGeom>
              <a:avLst/>
              <a:gdLst/>
              <a:ahLst/>
              <a:cxnLst/>
              <a:rect l="l" t="t" r="r" b="b"/>
              <a:pathLst>
                <a:path w="421908" h="1703153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0755298" y="1901472"/>
            <a:ext cx="1638836" cy="13359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02"/>
              </a:lnSpc>
            </a:pPr>
            <a:r>
              <a:rPr lang="en-US" sz="785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755298" y="4495485"/>
            <a:ext cx="1638836" cy="13359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02"/>
              </a:lnSpc>
            </a:pPr>
            <a:r>
              <a:rPr lang="en-US" sz="7859" b="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755298" y="7097732"/>
            <a:ext cx="1638836" cy="13359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02"/>
              </a:lnSpc>
            </a:pPr>
            <a:r>
              <a:rPr lang="en-US" sz="785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93666" y="2085043"/>
            <a:ext cx="5948366" cy="845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Modulul 1 - Analiza B-Mode (Geometrie &amp; Morfologie)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595937" y="4581210"/>
            <a:ext cx="5948366" cy="845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Modulul 2 - Analiza Doppler (Vascularizație)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595937" y="7230616"/>
            <a:ext cx="5948366" cy="845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Modulul 3 - Analiza Elastografică (Rigiditate) 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700" y="8997950"/>
            <a:ext cx="2514600" cy="260350"/>
            <a:chOff x="0" y="0"/>
            <a:chExt cx="662281" cy="6857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62281" cy="68570"/>
            </a:xfrm>
            <a:custGeom>
              <a:avLst/>
              <a:gdLst/>
              <a:ahLst/>
              <a:cxnLst/>
              <a:rect l="l" t="t" r="r" b="b"/>
              <a:pathLst>
                <a:path w="662281" h="68570">
                  <a:moveTo>
                    <a:pt x="0" y="0"/>
                  </a:moveTo>
                  <a:lnTo>
                    <a:pt x="662281" y="0"/>
                  </a:lnTo>
                  <a:lnTo>
                    <a:pt x="662281" y="68570"/>
                  </a:lnTo>
                  <a:lnTo>
                    <a:pt x="0" y="6857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662281" cy="1161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9690318" y="4001681"/>
            <a:ext cx="7819564" cy="3352638"/>
          </a:xfrm>
          <a:custGeom>
            <a:avLst/>
            <a:gdLst/>
            <a:ahLst/>
            <a:cxnLst/>
            <a:rect l="l" t="t" r="r" b="b"/>
            <a:pathLst>
              <a:path w="7819564" h="3352638">
                <a:moveTo>
                  <a:pt x="0" y="0"/>
                </a:moveTo>
                <a:lnTo>
                  <a:pt x="7819563" y="0"/>
                </a:lnTo>
                <a:lnTo>
                  <a:pt x="7819563" y="3352638"/>
                </a:lnTo>
                <a:lnTo>
                  <a:pt x="0" y="33526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028700" y="369007"/>
            <a:ext cx="8879852" cy="1448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48"/>
              </a:lnSpc>
            </a:pPr>
            <a:r>
              <a:rPr lang="en-US" sz="4177" b="1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MODULUL 1 - ANALIZA B-MODE (GEOMETRIE &amp; MORFOLOGIE)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2099895"/>
            <a:ext cx="10915834" cy="1489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6"/>
              </a:lnSpc>
            </a:pPr>
            <a:r>
              <a:rPr lang="en-US" sz="21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Provocarea Tehnică:</a:t>
            </a:r>
          </a:p>
          <a:p>
            <a:pPr marL="458997" lvl="1" indent="-229499" algn="l">
              <a:lnSpc>
                <a:spcPts val="2976"/>
              </a:lnSpc>
              <a:buFont typeface="Arial"/>
              <a:buChar char="•"/>
            </a:pPr>
            <a:r>
              <a:rPr lang="en-US" sz="21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Imaginile ecografice au contrast scăzut și zgomot „speckle”.</a:t>
            </a:r>
          </a:p>
          <a:p>
            <a:pPr marL="458997" lvl="1" indent="-229499" algn="l">
              <a:lnSpc>
                <a:spcPts val="2976"/>
              </a:lnSpc>
              <a:buFont typeface="Arial"/>
              <a:buChar char="•"/>
            </a:pPr>
            <a:r>
              <a:rPr lang="en-US" sz="21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Modelul brut producea supra-segmentare (includea țesutul adipos din jur).</a:t>
            </a:r>
          </a:p>
          <a:p>
            <a:pPr algn="l">
              <a:lnSpc>
                <a:spcPts val="2976"/>
              </a:lnSpc>
              <a:spcBef>
                <a:spcPct val="0"/>
              </a:spcBef>
            </a:pPr>
            <a:endParaRPr lang="en-US" sz="2125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28700" y="3441712"/>
            <a:ext cx="8661618" cy="4089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6"/>
              </a:lnSpc>
            </a:pPr>
            <a:r>
              <a:rPr lang="en-US" sz="21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Soluția Algoritmică (Pipeline):</a:t>
            </a:r>
          </a:p>
          <a:p>
            <a:pPr marL="458997" lvl="1" indent="-229499" algn="l">
              <a:lnSpc>
                <a:spcPts val="2976"/>
              </a:lnSpc>
              <a:buAutoNum type="arabicPeriod"/>
            </a:pPr>
            <a:r>
              <a:rPr lang="en-US" sz="21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Pre-procesare CLAHE: Contrast Limited Adaptive Histogram Equalization (ClipLimit=3.0). Evidențiază marginile capsulei ganglionare.</a:t>
            </a:r>
          </a:p>
          <a:p>
            <a:pPr marL="458997" lvl="1" indent="-229499" algn="l">
              <a:lnSpc>
                <a:spcPts val="2976"/>
              </a:lnSpc>
              <a:buAutoNum type="arabicPeriod"/>
            </a:pPr>
            <a:r>
              <a:rPr lang="en-US" sz="21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Inference: Mask R-CNN prezice masca brută.</a:t>
            </a:r>
          </a:p>
          <a:p>
            <a:pPr marL="458997" lvl="1" indent="-229499" algn="l">
              <a:lnSpc>
                <a:spcPts val="2976"/>
              </a:lnSpc>
              <a:buAutoNum type="arabicPeriod"/>
            </a:pPr>
            <a:r>
              <a:rPr lang="en-US" sz="21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Post-procesare (Rafinare):</a:t>
            </a:r>
          </a:p>
          <a:p>
            <a:pPr marL="917995" lvl="2" indent="-305998" algn="l">
              <a:lnSpc>
                <a:spcPts val="2976"/>
              </a:lnSpc>
              <a:buFont typeface="Arial"/>
              <a:buChar char="⚬"/>
            </a:pPr>
            <a:r>
              <a:rPr lang="en-US" sz="21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Morphological Closing: Umplerea găurilor interne.</a:t>
            </a:r>
          </a:p>
          <a:p>
            <a:pPr marL="917995" lvl="2" indent="-305998" algn="l">
              <a:lnSpc>
                <a:spcPts val="2976"/>
              </a:lnSpc>
              <a:buFont typeface="Arial"/>
              <a:buChar char="⚬"/>
            </a:pPr>
            <a:r>
              <a:rPr lang="en-US" sz="21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Erosion (Eroziune): Aplicarea unui kernel (3x3) pentru a „strânge” conturul cu 2-3 pixeli (Tight-Fit).</a:t>
            </a:r>
          </a:p>
          <a:p>
            <a:pPr marL="917995" lvl="2" indent="-305998" algn="l">
              <a:lnSpc>
                <a:spcPts val="2976"/>
              </a:lnSpc>
              <a:buFont typeface="Arial"/>
              <a:buChar char="⚬"/>
            </a:pPr>
            <a:r>
              <a:rPr lang="en-US" sz="21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ApproxPolyDP: Netezirea geometrică a conturului zimțat.</a:t>
            </a:r>
          </a:p>
          <a:p>
            <a:pPr algn="l">
              <a:lnSpc>
                <a:spcPts val="2976"/>
              </a:lnSpc>
              <a:spcBef>
                <a:spcPct val="0"/>
              </a:spcBef>
            </a:pPr>
            <a:endParaRPr lang="en-US" sz="2125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28700" y="7508900"/>
            <a:ext cx="10915834" cy="1489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6"/>
              </a:lnSpc>
            </a:pPr>
            <a:r>
              <a:rPr lang="en-US" sz="21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Regula Medicală (Diagnostic):</a:t>
            </a:r>
          </a:p>
          <a:p>
            <a:pPr marL="458997" lvl="1" indent="-229499" algn="l">
              <a:lnSpc>
                <a:spcPts val="2976"/>
              </a:lnSpc>
              <a:buFont typeface="Arial"/>
              <a:buChar char="•"/>
            </a:pPr>
            <a:r>
              <a:rPr lang="en-US" sz="21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Calcul automat axe: Short Axis (S) și Long Axis (L).</a:t>
            </a:r>
          </a:p>
          <a:p>
            <a:pPr marL="458997" lvl="1" indent="-229499" algn="l">
              <a:lnSpc>
                <a:spcPts val="2976"/>
              </a:lnSpc>
              <a:buFont typeface="Arial"/>
              <a:buChar char="•"/>
            </a:pPr>
            <a:r>
              <a:rPr lang="en-US" sz="21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S/L Ratio &gt; 0.6 ➔ Indice de Sfericitate crescut ➔ SUSPECT.</a:t>
            </a:r>
          </a:p>
          <a:p>
            <a:pPr algn="l">
              <a:lnSpc>
                <a:spcPts val="2976"/>
              </a:lnSpc>
              <a:spcBef>
                <a:spcPct val="0"/>
              </a:spcBef>
            </a:pPr>
            <a:endParaRPr lang="en-US" sz="2125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700" y="8997950"/>
            <a:ext cx="2514600" cy="260350"/>
            <a:chOff x="0" y="0"/>
            <a:chExt cx="662281" cy="6857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62281" cy="68570"/>
            </a:xfrm>
            <a:custGeom>
              <a:avLst/>
              <a:gdLst/>
              <a:ahLst/>
              <a:cxnLst/>
              <a:rect l="l" t="t" r="r" b="b"/>
              <a:pathLst>
                <a:path w="662281" h="68570">
                  <a:moveTo>
                    <a:pt x="0" y="0"/>
                  </a:moveTo>
                  <a:lnTo>
                    <a:pt x="662281" y="0"/>
                  </a:lnTo>
                  <a:lnTo>
                    <a:pt x="662281" y="68570"/>
                  </a:lnTo>
                  <a:lnTo>
                    <a:pt x="0" y="6857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662281" cy="1161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1420773" y="3785356"/>
            <a:ext cx="5992202" cy="4492157"/>
          </a:xfrm>
          <a:custGeom>
            <a:avLst/>
            <a:gdLst/>
            <a:ahLst/>
            <a:cxnLst/>
            <a:rect l="l" t="t" r="r" b="b"/>
            <a:pathLst>
              <a:path w="5992202" h="4492157">
                <a:moveTo>
                  <a:pt x="0" y="0"/>
                </a:moveTo>
                <a:lnTo>
                  <a:pt x="5992201" y="0"/>
                </a:lnTo>
                <a:lnTo>
                  <a:pt x="5992201" y="4492157"/>
                </a:lnTo>
                <a:lnTo>
                  <a:pt x="0" y="44921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028700" y="369007"/>
            <a:ext cx="8879852" cy="1448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48"/>
              </a:lnSpc>
            </a:pPr>
            <a:r>
              <a:rPr lang="en-US" sz="4177" b="1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MODULUL 2 - ANALIZA DOPPLER (VASCULARIZAȚIE)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2099895"/>
            <a:ext cx="12945409" cy="1489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6"/>
              </a:lnSpc>
            </a:pPr>
            <a:r>
              <a:rPr lang="en-US" sz="21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Provocarea Tehnică:</a:t>
            </a:r>
          </a:p>
          <a:p>
            <a:pPr marL="458997" lvl="1" indent="-229499" algn="l">
              <a:lnSpc>
                <a:spcPts val="2976"/>
              </a:lnSpc>
              <a:buFont typeface="Arial"/>
              <a:buChar char="•"/>
            </a:pPr>
            <a:r>
              <a:rPr lang="en-US" sz="21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Imaginile conțin o cutie ROI (linii punctate) și culori (Roșu/Albastru).</a:t>
            </a:r>
          </a:p>
          <a:p>
            <a:pPr marL="458997" lvl="1" indent="-229499" algn="l">
              <a:lnSpc>
                <a:spcPts val="2976"/>
              </a:lnSpc>
              <a:buFont typeface="Arial"/>
              <a:buChar char="•"/>
            </a:pPr>
            <a:r>
              <a:rPr lang="en-US" sz="21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CNN-ul antrenat pe forme anatomice era derutat de liniile artificiale și eșua în detecție.</a:t>
            </a:r>
          </a:p>
          <a:p>
            <a:pPr algn="l">
              <a:lnSpc>
                <a:spcPts val="2976"/>
              </a:lnSpc>
              <a:spcBef>
                <a:spcPct val="0"/>
              </a:spcBef>
            </a:pPr>
            <a:endParaRPr lang="en-US" sz="2125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28700" y="3441712"/>
            <a:ext cx="10588483" cy="4089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6"/>
              </a:lnSpc>
            </a:pPr>
            <a:r>
              <a:rPr lang="en-US" sz="21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Soluția Algoritmică (Inovație):</a:t>
            </a:r>
          </a:p>
          <a:p>
            <a:pPr marL="458997" lvl="1" indent="-229499" algn="l">
              <a:lnSpc>
                <a:spcPts val="2976"/>
              </a:lnSpc>
              <a:buAutoNum type="arabicPeriod"/>
            </a:pPr>
            <a:r>
              <a:rPr lang="en-US" sz="21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Transformare Spațiu Culoare: RGB ➔ HSV (Hue, Saturation, Value).</a:t>
            </a:r>
          </a:p>
          <a:p>
            <a:pPr marL="458997" lvl="1" indent="-229499" algn="l">
              <a:lnSpc>
                <a:spcPts val="2976"/>
              </a:lnSpc>
              <a:buAutoNum type="arabicPeriod"/>
            </a:pPr>
            <a:r>
              <a:rPr lang="en-US" sz="21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Extragere Canal V (Luminanță): Păstrează structura țesutului, elimină informația cromatică (culorile devin gri).</a:t>
            </a:r>
          </a:p>
          <a:p>
            <a:pPr marL="458997" lvl="1" indent="-229499" algn="l">
              <a:lnSpc>
                <a:spcPts val="2976"/>
              </a:lnSpc>
              <a:buAutoNum type="arabicPeriod"/>
            </a:pPr>
            <a:r>
              <a:rPr lang="en-US" sz="21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Filtrare Mediană (Median Blur): Kernel (5x5) pentru a elimina zgomotul „sare și piper” (liniile punctate ale cutiei Doppler).</a:t>
            </a:r>
          </a:p>
          <a:p>
            <a:pPr marL="458997" lvl="1" indent="-229499" algn="l">
              <a:lnSpc>
                <a:spcPts val="2976"/>
              </a:lnSpc>
              <a:buAutoNum type="arabicPeriod"/>
            </a:pPr>
            <a:r>
              <a:rPr lang="en-US" sz="21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Recuperare Mască: Aplicarea măștii detectate pe imaginea Originală Color.</a:t>
            </a:r>
          </a:p>
          <a:p>
            <a:pPr marL="458997" lvl="1" indent="-229499" algn="l">
              <a:lnSpc>
                <a:spcPts val="2976"/>
              </a:lnSpc>
              <a:buAutoNum type="arabicPeriod"/>
            </a:pPr>
            <a:r>
              <a:rPr lang="en-US" sz="21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Dilatare Mască: Expansiune cu 10-15% pentru a include vasele periferice care ies din contur.</a:t>
            </a:r>
          </a:p>
          <a:p>
            <a:pPr algn="l">
              <a:lnSpc>
                <a:spcPts val="2976"/>
              </a:lnSpc>
              <a:spcBef>
                <a:spcPct val="0"/>
              </a:spcBef>
            </a:pPr>
            <a:endParaRPr lang="en-US" sz="2125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28700" y="7320697"/>
            <a:ext cx="10915834" cy="1489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6"/>
              </a:lnSpc>
            </a:pPr>
            <a:r>
              <a:rPr lang="en-US" sz="21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Regula Medicală (Diagnostic):</a:t>
            </a:r>
          </a:p>
          <a:p>
            <a:pPr marL="458997" lvl="1" indent="-229499" algn="l">
              <a:lnSpc>
                <a:spcPts val="2976"/>
              </a:lnSpc>
              <a:buFont typeface="Arial"/>
              <a:buChar char="•"/>
            </a:pPr>
            <a:r>
              <a:rPr lang="en-US" sz="21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Vascularity Position: Analiza pixelilor colorați față de centroid.</a:t>
            </a:r>
          </a:p>
          <a:p>
            <a:pPr marL="458997" lvl="1" indent="-229499" algn="l">
              <a:lnSpc>
                <a:spcPts val="2976"/>
              </a:lnSpc>
              <a:buFont typeface="Arial"/>
              <a:buChar char="•"/>
            </a:pPr>
            <a:r>
              <a:rPr lang="en-US" sz="21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Periferic &gt; Central ➔ Neo-angiogeneză ➔ MALIGN.</a:t>
            </a:r>
          </a:p>
          <a:p>
            <a:pPr algn="l">
              <a:lnSpc>
                <a:spcPts val="2976"/>
              </a:lnSpc>
              <a:spcBef>
                <a:spcPct val="0"/>
              </a:spcBef>
            </a:pPr>
            <a:endParaRPr lang="en-US" sz="2125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700" y="8997950"/>
            <a:ext cx="2514600" cy="260350"/>
            <a:chOff x="0" y="0"/>
            <a:chExt cx="662281" cy="6857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62281" cy="68570"/>
            </a:xfrm>
            <a:custGeom>
              <a:avLst/>
              <a:gdLst/>
              <a:ahLst/>
              <a:cxnLst/>
              <a:rect l="l" t="t" r="r" b="b"/>
              <a:pathLst>
                <a:path w="662281" h="68570">
                  <a:moveTo>
                    <a:pt x="0" y="0"/>
                  </a:moveTo>
                  <a:lnTo>
                    <a:pt x="662281" y="0"/>
                  </a:lnTo>
                  <a:lnTo>
                    <a:pt x="662281" y="68570"/>
                  </a:lnTo>
                  <a:lnTo>
                    <a:pt x="0" y="6857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662281" cy="1161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0786535" y="3498862"/>
            <a:ext cx="6252922" cy="4741318"/>
          </a:xfrm>
          <a:custGeom>
            <a:avLst/>
            <a:gdLst/>
            <a:ahLst/>
            <a:cxnLst/>
            <a:rect l="l" t="t" r="r" b="b"/>
            <a:pathLst>
              <a:path w="6252922" h="4741318">
                <a:moveTo>
                  <a:pt x="0" y="0"/>
                </a:moveTo>
                <a:lnTo>
                  <a:pt x="6252922" y="0"/>
                </a:lnTo>
                <a:lnTo>
                  <a:pt x="6252922" y="4741318"/>
                </a:lnTo>
                <a:lnTo>
                  <a:pt x="0" y="47413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028700" y="369007"/>
            <a:ext cx="8879852" cy="1448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48"/>
              </a:lnSpc>
            </a:pPr>
            <a:r>
              <a:rPr lang="en-US" sz="4177" b="1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MODULUL 3 - ANALIZA ELASTOGRAFICĂ (RIGIDITATE)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2099895"/>
            <a:ext cx="11483242" cy="1117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6"/>
              </a:lnSpc>
            </a:pPr>
            <a:r>
              <a:rPr lang="en-US" sz="21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Provocarea Tehnică:</a:t>
            </a:r>
          </a:p>
          <a:p>
            <a:pPr marL="458997" lvl="1" indent="-229499" algn="l">
              <a:lnSpc>
                <a:spcPts val="2976"/>
              </a:lnSpc>
              <a:buFont typeface="Arial"/>
              <a:buChar char="•"/>
            </a:pPr>
            <a:r>
              <a:rPr lang="en-US" sz="21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Imagine de tip Split-Screen: Stânga (B-Mode anatomic), Dreapta (Harta Color).</a:t>
            </a:r>
          </a:p>
          <a:p>
            <a:pPr marL="458997" lvl="1" indent="-229499" algn="l">
              <a:lnSpc>
                <a:spcPts val="2976"/>
              </a:lnSpc>
              <a:spcBef>
                <a:spcPct val="0"/>
              </a:spcBef>
              <a:buFont typeface="Arial"/>
              <a:buChar char="•"/>
            </a:pPr>
            <a:r>
              <a:rPr lang="en-US" sz="21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AI-ul poate detecta nodulul doar pe imaginea clară din stânga.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3441712"/>
            <a:ext cx="8449791" cy="3717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6"/>
              </a:lnSpc>
            </a:pPr>
            <a:r>
              <a:rPr lang="en-US" sz="21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Soluția Algoritmică (Translație):</a:t>
            </a:r>
          </a:p>
          <a:p>
            <a:pPr marL="458997" lvl="1" indent="-229499" algn="l">
              <a:lnSpc>
                <a:spcPts val="2976"/>
              </a:lnSpc>
              <a:buAutoNum type="arabicPeriod"/>
            </a:pPr>
            <a:r>
              <a:rPr lang="en-US" sz="21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Detecție: Segmentare pe jumătatea stângă.</a:t>
            </a:r>
          </a:p>
          <a:p>
            <a:pPr marL="458997" lvl="1" indent="-229499" algn="l">
              <a:lnSpc>
                <a:spcPts val="2976"/>
              </a:lnSpc>
              <a:buAutoNum type="arabicPeriod"/>
            </a:pPr>
            <a:r>
              <a:rPr lang="en-US" sz="21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Calcul Offset: Determinarea lățimii imaginii (W) și a centrului (W/2).</a:t>
            </a:r>
          </a:p>
          <a:p>
            <a:pPr marL="458997" lvl="1" indent="-229499" algn="l">
              <a:lnSpc>
                <a:spcPts val="2976"/>
              </a:lnSpc>
              <a:buAutoNum type="arabicPeriod"/>
            </a:pPr>
            <a:r>
              <a:rPr lang="en-US" sz="21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Translație Matematică: Aplicarea unei matrice de transformare M = [[1, 0, tx], [0, 1, ty]] pentru a muta conturul pe dreapta.</a:t>
            </a:r>
          </a:p>
          <a:p>
            <a:pPr marL="458997" lvl="1" indent="-229499" algn="l">
              <a:lnSpc>
                <a:spcPts val="2976"/>
              </a:lnSpc>
              <a:buAutoNum type="arabicPeriod"/>
            </a:pPr>
            <a:r>
              <a:rPr lang="en-US" sz="21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Analiza Histogramei HSV: Numărarea pixelilor din interiorul conturului translatat.</a:t>
            </a:r>
          </a:p>
          <a:p>
            <a:pPr algn="l">
              <a:lnSpc>
                <a:spcPts val="2976"/>
              </a:lnSpc>
              <a:spcBef>
                <a:spcPct val="0"/>
              </a:spcBef>
            </a:pPr>
            <a:endParaRPr lang="en-US" sz="2125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28700" y="6967630"/>
            <a:ext cx="9279080" cy="186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6"/>
              </a:lnSpc>
            </a:pPr>
            <a:r>
              <a:rPr lang="en-US" sz="21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Regula Medicală (Diagnostic):</a:t>
            </a:r>
          </a:p>
          <a:p>
            <a:pPr marL="458997" lvl="1" indent="-229499" algn="l">
              <a:lnSpc>
                <a:spcPts val="2976"/>
              </a:lnSpc>
              <a:buFont typeface="Arial"/>
              <a:buChar char="•"/>
            </a:pPr>
            <a:r>
              <a:rPr lang="en-US" sz="21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Blue (Hard) + Green (Interm.) &gt; 40-45% din arie ➔ Țesut Rigid ➔ MALIGN.</a:t>
            </a:r>
          </a:p>
          <a:p>
            <a:pPr marL="458997" lvl="1" indent="-229499" algn="l">
              <a:lnSpc>
                <a:spcPts val="2976"/>
              </a:lnSpc>
              <a:buFont typeface="Arial"/>
              <a:buChar char="•"/>
            </a:pPr>
            <a:r>
              <a:rPr lang="en-US" sz="21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Red (Soft) dominant ➔ BENIGN.</a:t>
            </a:r>
          </a:p>
          <a:p>
            <a:pPr algn="l">
              <a:lnSpc>
                <a:spcPts val="2976"/>
              </a:lnSpc>
              <a:spcBef>
                <a:spcPct val="0"/>
              </a:spcBef>
            </a:pPr>
            <a:endParaRPr lang="en-US" sz="2125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700" y="8997950"/>
            <a:ext cx="2514600" cy="260350"/>
            <a:chOff x="0" y="0"/>
            <a:chExt cx="662281" cy="6857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62281" cy="68570"/>
            </a:xfrm>
            <a:custGeom>
              <a:avLst/>
              <a:gdLst/>
              <a:ahLst/>
              <a:cxnLst/>
              <a:rect l="l" t="t" r="r" b="b"/>
              <a:pathLst>
                <a:path w="662281" h="68570">
                  <a:moveTo>
                    <a:pt x="0" y="0"/>
                  </a:moveTo>
                  <a:lnTo>
                    <a:pt x="662281" y="0"/>
                  </a:lnTo>
                  <a:lnTo>
                    <a:pt x="662281" y="68570"/>
                  </a:lnTo>
                  <a:lnTo>
                    <a:pt x="0" y="6857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662281" cy="1161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28700" y="369007"/>
            <a:ext cx="8879852" cy="1448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48"/>
              </a:lnSpc>
            </a:pPr>
            <a:r>
              <a:rPr lang="en-US" sz="4177" b="1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LOGICA DE DIAGNOSTIC ȘI SISTEMUL DE PUNCTAJ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1857133"/>
            <a:ext cx="15868133" cy="37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8997" lvl="1" indent="-229499" algn="l">
              <a:lnSpc>
                <a:spcPts val="2976"/>
              </a:lnSpc>
              <a:spcBef>
                <a:spcPct val="0"/>
              </a:spcBef>
              <a:buFont typeface="Arial"/>
              <a:buChar char="•"/>
            </a:pPr>
            <a:r>
              <a:rPr lang="en-US" sz="21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Sistemul nu ia decizii aleatorii, ci aplică matematic regulile clinice stabilite de medici, generând un scor compus: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43730" y="2641333"/>
            <a:ext cx="8449791" cy="1903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6"/>
              </a:lnSpc>
            </a:pPr>
            <a:r>
              <a:rPr lang="en-US" sz="2125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1. B-Mode (Forma </a:t>
            </a:r>
            <a:r>
              <a:rPr lang="en-US" sz="2125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și</a:t>
            </a:r>
            <a:r>
              <a:rPr lang="en-US" sz="2125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125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Geometria</a:t>
            </a:r>
            <a:r>
              <a:rPr lang="en-US" sz="2125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):</a:t>
            </a:r>
          </a:p>
          <a:p>
            <a:pPr marL="458997" lvl="1" indent="-229499" algn="l">
              <a:lnSpc>
                <a:spcPts val="2976"/>
              </a:lnSpc>
              <a:buFont typeface="Arial"/>
              <a:buChar char="•"/>
            </a:pPr>
            <a:r>
              <a:rPr lang="en-US" sz="2125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Dacă</a:t>
            </a:r>
            <a:r>
              <a:rPr lang="en-US" sz="2125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125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Raportul</a:t>
            </a:r>
            <a:r>
              <a:rPr lang="en-US" sz="2125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S/L (Axa </a:t>
            </a:r>
            <a:r>
              <a:rPr lang="en-US" sz="2125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Scurtă</a:t>
            </a:r>
            <a:r>
              <a:rPr lang="en-US" sz="2125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/ Axa </a:t>
            </a:r>
            <a:r>
              <a:rPr lang="en-US" sz="2125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Lungă</a:t>
            </a:r>
            <a:r>
              <a:rPr lang="en-US" sz="2125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) &gt; 0.6 ➔ Forma </a:t>
            </a:r>
            <a:r>
              <a:rPr lang="en-US" sz="2125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este</a:t>
            </a:r>
            <a:r>
              <a:rPr lang="en-US" sz="2125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125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sferică</a:t>
            </a:r>
            <a:r>
              <a:rPr lang="en-US" sz="2125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➔ Malign</a:t>
            </a:r>
          </a:p>
          <a:p>
            <a:pPr marL="458997" lvl="1" indent="-229499" algn="l">
              <a:lnSpc>
                <a:spcPts val="2976"/>
              </a:lnSpc>
              <a:spcBef>
                <a:spcPct val="0"/>
              </a:spcBef>
              <a:buFont typeface="Arial"/>
              <a:buChar char="•"/>
            </a:pPr>
            <a:r>
              <a:rPr lang="en-US" sz="2125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Dacă</a:t>
            </a:r>
            <a:r>
              <a:rPr lang="en-US" sz="2125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125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Raportul</a:t>
            </a:r>
            <a:r>
              <a:rPr lang="en-US" sz="2125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S/L ≤ 0.6 ➔ Forma </a:t>
            </a:r>
            <a:r>
              <a:rPr lang="en-US" sz="2125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este</a:t>
            </a:r>
            <a:r>
              <a:rPr lang="en-US" sz="2125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125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alungită</a:t>
            </a:r>
            <a:r>
              <a:rPr lang="en-US" sz="2125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/</a:t>
            </a:r>
            <a:r>
              <a:rPr lang="en-US" sz="2125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ovală</a:t>
            </a:r>
            <a:r>
              <a:rPr lang="en-US" sz="2125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➔ Benign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846184" y="7137425"/>
            <a:ext cx="9279080" cy="1515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6"/>
              </a:lnSpc>
            </a:pPr>
            <a:r>
              <a:rPr lang="en-US" sz="2125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3. </a:t>
            </a:r>
            <a:r>
              <a:rPr lang="en-US" sz="2125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Elastografie</a:t>
            </a:r>
            <a:r>
              <a:rPr lang="en-US" sz="2125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(</a:t>
            </a:r>
            <a:r>
              <a:rPr lang="en-US" sz="2125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Rigiditatea</a:t>
            </a:r>
            <a:r>
              <a:rPr lang="en-US" sz="2125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):</a:t>
            </a:r>
          </a:p>
          <a:p>
            <a:pPr marL="458997" lvl="1" indent="-229499" algn="l">
              <a:lnSpc>
                <a:spcPts val="2976"/>
              </a:lnSpc>
              <a:buFont typeface="Arial"/>
              <a:buChar char="•"/>
            </a:pPr>
            <a:r>
              <a:rPr lang="en-US" sz="2125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Dacă</a:t>
            </a:r>
            <a:r>
              <a:rPr lang="en-US" sz="2125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125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Pixelii</a:t>
            </a:r>
            <a:r>
              <a:rPr lang="en-US" sz="2125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Albaștri (Hard) + Verzi (</a:t>
            </a:r>
            <a:r>
              <a:rPr lang="en-US" sz="2125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Intermediar</a:t>
            </a:r>
            <a:r>
              <a:rPr lang="en-US" sz="2125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) &gt; 40-45% din </a:t>
            </a:r>
            <a:r>
              <a:rPr lang="en-US" sz="2125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arie</a:t>
            </a:r>
            <a:r>
              <a:rPr lang="en-US" sz="2125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➔ </a:t>
            </a:r>
            <a:r>
              <a:rPr lang="en-US" sz="2125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Țesut</a:t>
            </a:r>
            <a:r>
              <a:rPr lang="en-US" sz="2125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rigid ➔ Malign</a:t>
            </a:r>
          </a:p>
          <a:p>
            <a:pPr marL="458997" lvl="1" indent="-229499" algn="l">
              <a:lnSpc>
                <a:spcPts val="2976"/>
              </a:lnSpc>
              <a:spcBef>
                <a:spcPct val="0"/>
              </a:spcBef>
              <a:buFont typeface="Arial"/>
              <a:buChar char="•"/>
            </a:pPr>
            <a:r>
              <a:rPr lang="en-US" sz="2125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Dacă</a:t>
            </a:r>
            <a:r>
              <a:rPr lang="en-US" sz="2125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125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Domină</a:t>
            </a:r>
            <a:r>
              <a:rPr lang="en-US" sz="2125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125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pixelii</a:t>
            </a:r>
            <a:r>
              <a:rPr lang="en-US" sz="2125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Roșii (Soft) ➔ </a:t>
            </a:r>
            <a:r>
              <a:rPr lang="en-US" sz="2125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Țesut</a:t>
            </a:r>
            <a:r>
              <a:rPr lang="en-US" sz="2125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elastic/</a:t>
            </a:r>
            <a:r>
              <a:rPr lang="en-US" sz="2125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moale</a:t>
            </a:r>
            <a:r>
              <a:rPr lang="en-US" sz="2125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➔ Benign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543300" y="4911434"/>
            <a:ext cx="8586345" cy="1900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6"/>
              </a:lnSpc>
            </a:pPr>
            <a:r>
              <a:rPr lang="en-US" sz="2125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2. Doppler (</a:t>
            </a:r>
            <a:r>
              <a:rPr lang="en-US" sz="2125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Vascularizația</a:t>
            </a:r>
            <a:r>
              <a:rPr lang="en-US" sz="2125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):</a:t>
            </a:r>
          </a:p>
          <a:p>
            <a:pPr marL="458997" lvl="1" indent="-229499" algn="l">
              <a:lnSpc>
                <a:spcPts val="2976"/>
              </a:lnSpc>
              <a:buFont typeface="Arial"/>
              <a:buChar char="•"/>
            </a:pPr>
            <a:r>
              <a:rPr lang="en-US" sz="2125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Dacă</a:t>
            </a:r>
            <a:r>
              <a:rPr lang="en-US" sz="2125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125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Vascularizația</a:t>
            </a:r>
            <a:r>
              <a:rPr lang="en-US" sz="2125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125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este</a:t>
            </a:r>
            <a:r>
              <a:rPr lang="en-US" sz="2125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&gt; 15-20% din </a:t>
            </a:r>
            <a:r>
              <a:rPr lang="en-US" sz="2125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arie</a:t>
            </a:r>
            <a:r>
              <a:rPr lang="en-US" sz="2125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SAU </a:t>
            </a:r>
            <a:r>
              <a:rPr lang="en-US" sz="2125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este</a:t>
            </a:r>
            <a:r>
              <a:rPr lang="en-US" sz="2125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125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dispusă</a:t>
            </a:r>
            <a:r>
              <a:rPr lang="en-US" sz="2125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125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Periferic</a:t>
            </a:r>
            <a:r>
              <a:rPr lang="en-US" sz="2125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➔ </a:t>
            </a:r>
            <a:r>
              <a:rPr lang="en-US" sz="2125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Neoangiogeneză</a:t>
            </a:r>
            <a:r>
              <a:rPr lang="en-US" sz="2125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➔ Malign</a:t>
            </a:r>
          </a:p>
          <a:p>
            <a:pPr marL="458997" lvl="1" indent="-229499" algn="l">
              <a:lnSpc>
                <a:spcPts val="2976"/>
              </a:lnSpc>
              <a:spcBef>
                <a:spcPct val="0"/>
              </a:spcBef>
              <a:buFont typeface="Arial"/>
              <a:buChar char="•"/>
            </a:pPr>
            <a:r>
              <a:rPr lang="en-US" sz="2125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Dacă</a:t>
            </a:r>
            <a:r>
              <a:rPr lang="en-US" sz="2125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Este avascular </a:t>
            </a:r>
            <a:r>
              <a:rPr lang="en-US" sz="2125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sau</a:t>
            </a:r>
            <a:r>
              <a:rPr lang="en-US" sz="2125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125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vascularizația</a:t>
            </a:r>
            <a:r>
              <a:rPr lang="en-US" sz="2125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125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este</a:t>
            </a:r>
            <a:r>
              <a:rPr lang="en-US" sz="2125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125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doar</a:t>
            </a:r>
            <a:r>
              <a:rPr lang="en-US" sz="2125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125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centrală</a:t>
            </a:r>
            <a:r>
              <a:rPr lang="en-US" sz="2125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(</a:t>
            </a:r>
            <a:r>
              <a:rPr lang="en-US" sz="2125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hilară</a:t>
            </a:r>
            <a:r>
              <a:rPr lang="en-US" sz="2125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) ➔ Benign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257175" y="3274012"/>
            <a:ext cx="18802350" cy="2006600"/>
            <a:chOff x="0" y="0"/>
            <a:chExt cx="4952059" cy="52848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952059" cy="528487"/>
            </a:xfrm>
            <a:custGeom>
              <a:avLst/>
              <a:gdLst/>
              <a:ahLst/>
              <a:cxnLst/>
              <a:rect l="l" t="t" r="r" b="b"/>
              <a:pathLst>
                <a:path w="4952059" h="528487">
                  <a:moveTo>
                    <a:pt x="20999" y="0"/>
                  </a:moveTo>
                  <a:lnTo>
                    <a:pt x="4931060" y="0"/>
                  </a:lnTo>
                  <a:cubicBezTo>
                    <a:pt x="4936629" y="0"/>
                    <a:pt x="4941970" y="2212"/>
                    <a:pt x="4945909" y="6151"/>
                  </a:cubicBezTo>
                  <a:cubicBezTo>
                    <a:pt x="4949847" y="10089"/>
                    <a:pt x="4952059" y="15430"/>
                    <a:pt x="4952059" y="20999"/>
                  </a:cubicBezTo>
                  <a:lnTo>
                    <a:pt x="4952059" y="507488"/>
                  </a:lnTo>
                  <a:cubicBezTo>
                    <a:pt x="4952059" y="519086"/>
                    <a:pt x="4942658" y="528487"/>
                    <a:pt x="4931060" y="528487"/>
                  </a:cubicBezTo>
                  <a:lnTo>
                    <a:pt x="20999" y="528487"/>
                  </a:lnTo>
                  <a:cubicBezTo>
                    <a:pt x="15430" y="528487"/>
                    <a:pt x="10089" y="526275"/>
                    <a:pt x="6151" y="522337"/>
                  </a:cubicBezTo>
                  <a:cubicBezTo>
                    <a:pt x="2212" y="518399"/>
                    <a:pt x="0" y="513057"/>
                    <a:pt x="0" y="507488"/>
                  </a:cubicBezTo>
                  <a:lnTo>
                    <a:pt x="0" y="20999"/>
                  </a:lnTo>
                  <a:cubicBezTo>
                    <a:pt x="0" y="15430"/>
                    <a:pt x="2212" y="10089"/>
                    <a:pt x="6151" y="6151"/>
                  </a:cubicBezTo>
                  <a:cubicBezTo>
                    <a:pt x="10089" y="2212"/>
                    <a:pt x="15430" y="0"/>
                    <a:pt x="20999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952059" cy="5761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483770" y="5654954"/>
            <a:ext cx="4834425" cy="3928586"/>
          </a:xfrm>
          <a:custGeom>
            <a:avLst/>
            <a:gdLst/>
            <a:ahLst/>
            <a:cxnLst/>
            <a:rect l="l" t="t" r="r" b="b"/>
            <a:pathLst>
              <a:path w="4834425" h="3928586">
                <a:moveTo>
                  <a:pt x="0" y="0"/>
                </a:moveTo>
                <a:lnTo>
                  <a:pt x="4834425" y="0"/>
                </a:lnTo>
                <a:lnTo>
                  <a:pt x="4834425" y="3928585"/>
                </a:lnTo>
                <a:lnTo>
                  <a:pt x="0" y="3928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6678679" y="5654954"/>
            <a:ext cx="5012549" cy="3928586"/>
          </a:xfrm>
          <a:custGeom>
            <a:avLst/>
            <a:gdLst/>
            <a:ahLst/>
            <a:cxnLst/>
            <a:rect l="l" t="t" r="r" b="b"/>
            <a:pathLst>
              <a:path w="5012549" h="3928586">
                <a:moveTo>
                  <a:pt x="0" y="0"/>
                </a:moveTo>
                <a:lnTo>
                  <a:pt x="5012550" y="0"/>
                </a:lnTo>
                <a:lnTo>
                  <a:pt x="5012550" y="3928585"/>
                </a:lnTo>
                <a:lnTo>
                  <a:pt x="0" y="39285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2231223" y="5680495"/>
            <a:ext cx="5028077" cy="3903044"/>
          </a:xfrm>
          <a:custGeom>
            <a:avLst/>
            <a:gdLst/>
            <a:ahLst/>
            <a:cxnLst/>
            <a:rect l="l" t="t" r="r" b="b"/>
            <a:pathLst>
              <a:path w="5028077" h="3903044">
                <a:moveTo>
                  <a:pt x="0" y="0"/>
                </a:moveTo>
                <a:lnTo>
                  <a:pt x="5028077" y="0"/>
                </a:lnTo>
                <a:lnTo>
                  <a:pt x="5028077" y="3903044"/>
                </a:lnTo>
                <a:lnTo>
                  <a:pt x="0" y="390304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900982" y="416806"/>
            <a:ext cx="10745015" cy="1973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40"/>
              </a:lnSpc>
            </a:pPr>
            <a:r>
              <a:rPr lang="en-US" sz="5672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REZULTATE ȘI RAPORTARE AUTOMATĂ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269039" y="3801659"/>
            <a:ext cx="3263886" cy="9608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40"/>
              </a:lnSpc>
            </a:pPr>
            <a:r>
              <a:rPr lang="en-US" sz="5672" b="1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B-MODE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423313" y="3810487"/>
            <a:ext cx="3700354" cy="9608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40"/>
              </a:lnSpc>
            </a:pPr>
            <a:r>
              <a:rPr lang="en-US" sz="5672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DOPPLER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750947" y="3801659"/>
            <a:ext cx="5790100" cy="9608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40"/>
              </a:lnSpc>
            </a:pPr>
            <a:r>
              <a:rPr lang="en-US" sz="5672" b="1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ELASTOGRAFIE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021905" y="2323942"/>
            <a:ext cx="8503169" cy="79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07"/>
              </a:lnSpc>
              <a:spcBef>
                <a:spcPct val="0"/>
              </a:spcBef>
            </a:pPr>
            <a:r>
              <a:rPr lang="en-US" sz="221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Output Vizual: Suprapunere contur codat pe culori (Verde=Benign, Roșu=Suspect).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1982450" y="8997950"/>
            <a:ext cx="2514600" cy="260350"/>
            <a:chOff x="0" y="0"/>
            <a:chExt cx="662281" cy="6857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62281" cy="68570"/>
            </a:xfrm>
            <a:custGeom>
              <a:avLst/>
              <a:gdLst/>
              <a:ahLst/>
              <a:cxnLst/>
              <a:rect l="l" t="t" r="r" b="b"/>
              <a:pathLst>
                <a:path w="662281" h="68570">
                  <a:moveTo>
                    <a:pt x="0" y="0"/>
                  </a:moveTo>
                  <a:lnTo>
                    <a:pt x="662281" y="0"/>
                  </a:lnTo>
                  <a:lnTo>
                    <a:pt x="662281" y="68570"/>
                  </a:lnTo>
                  <a:lnTo>
                    <a:pt x="0" y="6857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662281" cy="1161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5064580" y="1774507"/>
            <a:ext cx="5013951" cy="6737985"/>
            <a:chOff x="0" y="0"/>
            <a:chExt cx="3663950" cy="4923790"/>
          </a:xfrm>
        </p:grpSpPr>
        <p:sp>
          <p:nvSpPr>
            <p:cNvPr id="7" name="Freeform 7"/>
            <p:cNvSpPr/>
            <p:nvPr/>
          </p:nvSpPr>
          <p:spPr>
            <a:xfrm>
              <a:off x="31750" y="31750"/>
              <a:ext cx="3600450" cy="4859020"/>
            </a:xfrm>
            <a:custGeom>
              <a:avLst/>
              <a:gdLst/>
              <a:ahLst/>
              <a:cxnLst/>
              <a:rect l="l" t="t" r="r" b="b"/>
              <a:pathLst>
                <a:path w="3600450" h="4859020">
                  <a:moveTo>
                    <a:pt x="3600450" y="4499610"/>
                  </a:moveTo>
                  <a:cubicBezTo>
                    <a:pt x="3600450" y="4699000"/>
                    <a:pt x="3439160" y="4859020"/>
                    <a:pt x="3241040" y="4859020"/>
                  </a:cubicBezTo>
                  <a:lnTo>
                    <a:pt x="359410" y="4859020"/>
                  </a:lnTo>
                  <a:cubicBezTo>
                    <a:pt x="160020" y="4859020"/>
                    <a:pt x="0" y="4697730"/>
                    <a:pt x="0" y="4499610"/>
                  </a:cubicBezTo>
                  <a:lnTo>
                    <a:pt x="0" y="359410"/>
                  </a:lnTo>
                  <a:cubicBezTo>
                    <a:pt x="0" y="160020"/>
                    <a:pt x="161290" y="0"/>
                    <a:pt x="359410" y="0"/>
                  </a:cubicBezTo>
                  <a:lnTo>
                    <a:pt x="3239770" y="0"/>
                  </a:lnTo>
                  <a:cubicBezTo>
                    <a:pt x="3439160" y="0"/>
                    <a:pt x="3599180" y="161290"/>
                    <a:pt x="3599180" y="359410"/>
                  </a:cubicBezTo>
                  <a:lnTo>
                    <a:pt x="3600450" y="4499610"/>
                  </a:lnTo>
                  <a:close/>
                </a:path>
              </a:pathLst>
            </a:custGeom>
            <a:blipFill>
              <a:blip r:embed="rId3"/>
              <a:stretch>
                <a:fillRect l="-15847" r="-2913"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0" y="0"/>
              <a:ext cx="3662687" cy="4923790"/>
            </a:xfrm>
            <a:custGeom>
              <a:avLst/>
              <a:gdLst/>
              <a:ahLst/>
              <a:cxnLst/>
              <a:rect l="l" t="t" r="r" b="b"/>
              <a:pathLst>
                <a:path w="3662687" h="4923790">
                  <a:moveTo>
                    <a:pt x="3271520" y="4923790"/>
                  </a:moveTo>
                  <a:lnTo>
                    <a:pt x="391160" y="4923790"/>
                  </a:lnTo>
                  <a:cubicBezTo>
                    <a:pt x="175260" y="4923790"/>
                    <a:pt x="0" y="4748530"/>
                    <a:pt x="0" y="4532630"/>
                  </a:cubicBezTo>
                  <a:lnTo>
                    <a:pt x="0" y="392430"/>
                  </a:lnTo>
                  <a:cubicBezTo>
                    <a:pt x="0" y="175260"/>
                    <a:pt x="175260" y="0"/>
                    <a:pt x="391160" y="0"/>
                  </a:cubicBezTo>
                  <a:lnTo>
                    <a:pt x="3271520" y="0"/>
                  </a:lnTo>
                  <a:cubicBezTo>
                    <a:pt x="3487420" y="0"/>
                    <a:pt x="3662680" y="175260"/>
                    <a:pt x="3662680" y="391160"/>
                  </a:cubicBezTo>
                  <a:lnTo>
                    <a:pt x="3662680" y="4531360"/>
                  </a:lnTo>
                  <a:cubicBezTo>
                    <a:pt x="3663950" y="4747260"/>
                    <a:pt x="3487420" y="4923790"/>
                    <a:pt x="3271520" y="4923790"/>
                  </a:cubicBezTo>
                  <a:close/>
                  <a:moveTo>
                    <a:pt x="391160" y="63500"/>
                  </a:moveTo>
                  <a:cubicBezTo>
                    <a:pt x="210820" y="63500"/>
                    <a:pt x="63500" y="210820"/>
                    <a:pt x="63500" y="391160"/>
                  </a:cubicBezTo>
                  <a:lnTo>
                    <a:pt x="63500" y="4531360"/>
                  </a:lnTo>
                  <a:cubicBezTo>
                    <a:pt x="63500" y="4712970"/>
                    <a:pt x="210820" y="4859020"/>
                    <a:pt x="391160" y="4859020"/>
                  </a:cubicBezTo>
                  <a:lnTo>
                    <a:pt x="3271520" y="4859020"/>
                  </a:lnTo>
                  <a:cubicBezTo>
                    <a:pt x="3453130" y="4859020"/>
                    <a:pt x="3599180" y="4711700"/>
                    <a:pt x="3599180" y="4531360"/>
                  </a:cubicBezTo>
                  <a:lnTo>
                    <a:pt x="3599180" y="391160"/>
                  </a:lnTo>
                  <a:cubicBezTo>
                    <a:pt x="3599180" y="209550"/>
                    <a:pt x="3451860" y="63500"/>
                    <a:pt x="3271520" y="63500"/>
                  </a:cubicBezTo>
                  <a:lnTo>
                    <a:pt x="391160" y="63500"/>
                  </a:lnTo>
                  <a:close/>
                </a:path>
              </a:pathLst>
            </a:custGeom>
            <a:solidFill>
              <a:srgbClr val="004AAD"/>
            </a:solidFill>
          </p:spPr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1171575" y="1793380"/>
            <a:ext cx="3073669" cy="3174485"/>
            <a:chOff x="0" y="0"/>
            <a:chExt cx="6350000" cy="6558280"/>
          </a:xfrm>
        </p:grpSpPr>
        <p:sp>
          <p:nvSpPr>
            <p:cNvPr id="10" name="Freeform 10"/>
            <p:cNvSpPr/>
            <p:nvPr/>
          </p:nvSpPr>
          <p:spPr>
            <a:xfrm>
              <a:off x="74930" y="74930"/>
              <a:ext cx="6200140" cy="6408420"/>
            </a:xfrm>
            <a:custGeom>
              <a:avLst/>
              <a:gdLst/>
              <a:ahLst/>
              <a:cxnLst/>
              <a:rect l="l" t="t" r="r" b="b"/>
              <a:pathLst>
                <a:path w="6200140" h="6408420">
                  <a:moveTo>
                    <a:pt x="6200140" y="5351780"/>
                  </a:moveTo>
                  <a:cubicBezTo>
                    <a:pt x="6200140" y="5935980"/>
                    <a:pt x="5726430" y="6408420"/>
                    <a:pt x="5143500" y="6408420"/>
                  </a:cubicBezTo>
                  <a:lnTo>
                    <a:pt x="1056640" y="6408420"/>
                  </a:lnTo>
                  <a:cubicBezTo>
                    <a:pt x="472440" y="6408420"/>
                    <a:pt x="0" y="5934710"/>
                    <a:pt x="0" y="5351780"/>
                  </a:cubicBezTo>
                  <a:lnTo>
                    <a:pt x="0" y="1056640"/>
                  </a:lnTo>
                  <a:cubicBezTo>
                    <a:pt x="0" y="472440"/>
                    <a:pt x="473710" y="0"/>
                    <a:pt x="1056640" y="0"/>
                  </a:cubicBezTo>
                  <a:lnTo>
                    <a:pt x="5143500" y="0"/>
                  </a:lnTo>
                  <a:cubicBezTo>
                    <a:pt x="5727700" y="0"/>
                    <a:pt x="6200140" y="473710"/>
                    <a:pt x="6200140" y="1056640"/>
                  </a:cubicBezTo>
                  <a:lnTo>
                    <a:pt x="6200140" y="5351780"/>
                  </a:lnTo>
                  <a:close/>
                </a:path>
              </a:pathLst>
            </a:custGeom>
            <a:blipFill>
              <a:blip r:embed="rId4"/>
              <a:stretch>
                <a:fillRect t="-1288" b="-1288"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>
              <a:off x="0" y="0"/>
              <a:ext cx="6350000" cy="6558280"/>
            </a:xfrm>
            <a:custGeom>
              <a:avLst/>
              <a:gdLst/>
              <a:ahLst/>
              <a:cxnLst/>
              <a:rect l="l" t="t" r="r" b="b"/>
              <a:pathLst>
                <a:path w="6350000" h="6558280">
                  <a:moveTo>
                    <a:pt x="5218430" y="6558280"/>
                  </a:moveTo>
                  <a:lnTo>
                    <a:pt x="1131570" y="6558280"/>
                  </a:lnTo>
                  <a:cubicBezTo>
                    <a:pt x="508000" y="6558280"/>
                    <a:pt x="0" y="6050280"/>
                    <a:pt x="0" y="5426710"/>
                  </a:cubicBezTo>
                  <a:lnTo>
                    <a:pt x="0" y="1131570"/>
                  </a:lnTo>
                  <a:cubicBezTo>
                    <a:pt x="0" y="508000"/>
                    <a:pt x="508000" y="0"/>
                    <a:pt x="1131570" y="0"/>
                  </a:cubicBezTo>
                  <a:lnTo>
                    <a:pt x="5218430" y="0"/>
                  </a:lnTo>
                  <a:cubicBezTo>
                    <a:pt x="5842000" y="0"/>
                    <a:pt x="6350000" y="508000"/>
                    <a:pt x="6350000" y="1131570"/>
                  </a:cubicBezTo>
                  <a:lnTo>
                    <a:pt x="6350000" y="5425440"/>
                  </a:lnTo>
                  <a:cubicBezTo>
                    <a:pt x="6350000" y="6050280"/>
                    <a:pt x="5842000" y="6558280"/>
                    <a:pt x="5218430" y="6558280"/>
                  </a:cubicBezTo>
                  <a:close/>
                  <a:moveTo>
                    <a:pt x="1131570" y="149860"/>
                  </a:moveTo>
                  <a:cubicBezTo>
                    <a:pt x="590550" y="149860"/>
                    <a:pt x="149860" y="590550"/>
                    <a:pt x="149860" y="1131570"/>
                  </a:cubicBezTo>
                  <a:lnTo>
                    <a:pt x="149860" y="5425440"/>
                  </a:lnTo>
                  <a:cubicBezTo>
                    <a:pt x="149860" y="5966460"/>
                    <a:pt x="590550" y="6407150"/>
                    <a:pt x="1131570" y="6407150"/>
                  </a:cubicBezTo>
                  <a:lnTo>
                    <a:pt x="5218430" y="6407150"/>
                  </a:lnTo>
                  <a:cubicBezTo>
                    <a:pt x="5759450" y="6407150"/>
                    <a:pt x="6200140" y="5966460"/>
                    <a:pt x="6200140" y="5425440"/>
                  </a:cubicBezTo>
                  <a:lnTo>
                    <a:pt x="6200140" y="1131570"/>
                  </a:lnTo>
                  <a:cubicBezTo>
                    <a:pt x="6200140" y="590550"/>
                    <a:pt x="5759450" y="149860"/>
                    <a:pt x="5218430" y="149860"/>
                  </a:cubicBezTo>
                  <a:lnTo>
                    <a:pt x="1131570" y="149860"/>
                  </a:lnTo>
                  <a:close/>
                </a:path>
              </a:pathLst>
            </a:custGeom>
            <a:solidFill>
              <a:srgbClr val="004AAD"/>
            </a:solidFill>
          </p:spPr>
        </p:sp>
      </p:grpSp>
      <p:grpSp>
        <p:nvGrpSpPr>
          <p:cNvPr id="12" name="Group 12"/>
          <p:cNvGrpSpPr>
            <a:grpSpLocks noChangeAspect="1"/>
          </p:cNvGrpSpPr>
          <p:nvPr/>
        </p:nvGrpSpPr>
        <p:grpSpPr>
          <a:xfrm>
            <a:off x="1171575" y="5338007"/>
            <a:ext cx="3073669" cy="3174485"/>
            <a:chOff x="0" y="0"/>
            <a:chExt cx="6350000" cy="6558280"/>
          </a:xfrm>
        </p:grpSpPr>
        <p:sp>
          <p:nvSpPr>
            <p:cNvPr id="13" name="Freeform 13"/>
            <p:cNvSpPr/>
            <p:nvPr/>
          </p:nvSpPr>
          <p:spPr>
            <a:xfrm>
              <a:off x="74930" y="74930"/>
              <a:ext cx="6200140" cy="6408420"/>
            </a:xfrm>
            <a:custGeom>
              <a:avLst/>
              <a:gdLst/>
              <a:ahLst/>
              <a:cxnLst/>
              <a:rect l="l" t="t" r="r" b="b"/>
              <a:pathLst>
                <a:path w="6200140" h="6408420">
                  <a:moveTo>
                    <a:pt x="6200140" y="5351780"/>
                  </a:moveTo>
                  <a:cubicBezTo>
                    <a:pt x="6200140" y="5935980"/>
                    <a:pt x="5726430" y="6408420"/>
                    <a:pt x="5143500" y="6408420"/>
                  </a:cubicBezTo>
                  <a:lnTo>
                    <a:pt x="1056640" y="6408420"/>
                  </a:lnTo>
                  <a:cubicBezTo>
                    <a:pt x="472440" y="6408420"/>
                    <a:pt x="0" y="5934710"/>
                    <a:pt x="0" y="5351780"/>
                  </a:cubicBezTo>
                  <a:lnTo>
                    <a:pt x="0" y="1056640"/>
                  </a:lnTo>
                  <a:cubicBezTo>
                    <a:pt x="0" y="472440"/>
                    <a:pt x="473710" y="0"/>
                    <a:pt x="1056640" y="0"/>
                  </a:cubicBezTo>
                  <a:lnTo>
                    <a:pt x="5143500" y="0"/>
                  </a:lnTo>
                  <a:cubicBezTo>
                    <a:pt x="5727700" y="0"/>
                    <a:pt x="6200140" y="473710"/>
                    <a:pt x="6200140" y="1056640"/>
                  </a:cubicBezTo>
                  <a:lnTo>
                    <a:pt x="6200140" y="5351780"/>
                  </a:lnTo>
                  <a:close/>
                </a:path>
              </a:pathLst>
            </a:custGeom>
            <a:blipFill>
              <a:blip r:embed="rId5"/>
              <a:stretch>
                <a:fillRect l="-30052" t="-18" r="-48864" b="-1029"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0" y="0"/>
              <a:ext cx="6350000" cy="6558280"/>
            </a:xfrm>
            <a:custGeom>
              <a:avLst/>
              <a:gdLst/>
              <a:ahLst/>
              <a:cxnLst/>
              <a:rect l="l" t="t" r="r" b="b"/>
              <a:pathLst>
                <a:path w="6350000" h="6558280">
                  <a:moveTo>
                    <a:pt x="5218430" y="6558280"/>
                  </a:moveTo>
                  <a:lnTo>
                    <a:pt x="1131570" y="6558280"/>
                  </a:lnTo>
                  <a:cubicBezTo>
                    <a:pt x="508000" y="6558280"/>
                    <a:pt x="0" y="6050280"/>
                    <a:pt x="0" y="5426710"/>
                  </a:cubicBezTo>
                  <a:lnTo>
                    <a:pt x="0" y="1131570"/>
                  </a:lnTo>
                  <a:cubicBezTo>
                    <a:pt x="0" y="508000"/>
                    <a:pt x="508000" y="0"/>
                    <a:pt x="1131570" y="0"/>
                  </a:cubicBezTo>
                  <a:lnTo>
                    <a:pt x="5218430" y="0"/>
                  </a:lnTo>
                  <a:cubicBezTo>
                    <a:pt x="5842000" y="0"/>
                    <a:pt x="6350000" y="508000"/>
                    <a:pt x="6350000" y="1131570"/>
                  </a:cubicBezTo>
                  <a:lnTo>
                    <a:pt x="6350000" y="5425440"/>
                  </a:lnTo>
                  <a:cubicBezTo>
                    <a:pt x="6350000" y="6050280"/>
                    <a:pt x="5842000" y="6558280"/>
                    <a:pt x="5218430" y="6558280"/>
                  </a:cubicBezTo>
                  <a:close/>
                  <a:moveTo>
                    <a:pt x="1131570" y="149860"/>
                  </a:moveTo>
                  <a:cubicBezTo>
                    <a:pt x="590550" y="149860"/>
                    <a:pt x="149860" y="590550"/>
                    <a:pt x="149860" y="1131570"/>
                  </a:cubicBezTo>
                  <a:lnTo>
                    <a:pt x="149860" y="5425440"/>
                  </a:lnTo>
                  <a:cubicBezTo>
                    <a:pt x="149860" y="5966460"/>
                    <a:pt x="590550" y="6407150"/>
                    <a:pt x="1131570" y="6407150"/>
                  </a:cubicBezTo>
                  <a:lnTo>
                    <a:pt x="5218430" y="6407150"/>
                  </a:lnTo>
                  <a:cubicBezTo>
                    <a:pt x="5759450" y="6407150"/>
                    <a:pt x="6200140" y="5966460"/>
                    <a:pt x="6200140" y="5425440"/>
                  </a:cubicBezTo>
                  <a:lnTo>
                    <a:pt x="6200140" y="1131570"/>
                  </a:lnTo>
                  <a:cubicBezTo>
                    <a:pt x="6200140" y="590550"/>
                    <a:pt x="5759450" y="149860"/>
                    <a:pt x="5218430" y="149860"/>
                  </a:cubicBezTo>
                  <a:lnTo>
                    <a:pt x="1131570" y="149860"/>
                  </a:lnTo>
                  <a:close/>
                </a:path>
              </a:pathLst>
            </a:custGeom>
            <a:solidFill>
              <a:srgbClr val="004AAD"/>
            </a:solidFill>
          </p:spPr>
        </p:sp>
      </p:grpSp>
      <p:sp>
        <p:nvSpPr>
          <p:cNvPr id="15" name="TextBox 15"/>
          <p:cNvSpPr txBox="1"/>
          <p:nvPr/>
        </p:nvSpPr>
        <p:spPr>
          <a:xfrm>
            <a:off x="11131204" y="1210832"/>
            <a:ext cx="6731691" cy="1855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31"/>
              </a:lnSpc>
            </a:pPr>
            <a:r>
              <a:rPr lang="en-US" sz="53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CONCLUZII ȘI DIRECȚII VIITOARE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131204" y="3490229"/>
            <a:ext cx="6731691" cy="223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6"/>
              </a:lnSpc>
            </a:pPr>
            <a:r>
              <a:rPr lang="en-US" sz="21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Concluzii:</a:t>
            </a:r>
          </a:p>
          <a:p>
            <a:pPr marL="458997" lvl="1" indent="-229499" algn="l">
              <a:lnSpc>
                <a:spcPts val="2976"/>
              </a:lnSpc>
              <a:buFont typeface="Arial"/>
              <a:buChar char="•"/>
            </a:pPr>
            <a:r>
              <a:rPr lang="en-US" sz="21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Sistem funcțional End-to-End care reduce subiectivitatea umană.</a:t>
            </a:r>
          </a:p>
          <a:p>
            <a:pPr marL="458997" lvl="1" indent="-229499" algn="l">
              <a:lnSpc>
                <a:spcPts val="2976"/>
              </a:lnSpc>
              <a:buFont typeface="Arial"/>
              <a:buChar char="•"/>
            </a:pPr>
            <a:r>
              <a:rPr lang="en-US" sz="21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Integrare reușită a viziunii computerizate (CV) cu regulile clinice.</a:t>
            </a:r>
          </a:p>
          <a:p>
            <a:pPr algn="l">
              <a:lnSpc>
                <a:spcPts val="2976"/>
              </a:lnSpc>
              <a:spcBef>
                <a:spcPct val="0"/>
              </a:spcBef>
            </a:pPr>
            <a:endParaRPr lang="en-US" sz="2125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1131204" y="5788802"/>
            <a:ext cx="6731691" cy="223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6"/>
              </a:lnSpc>
            </a:pPr>
            <a:r>
              <a:rPr lang="en-US" sz="21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Viitor:</a:t>
            </a:r>
          </a:p>
          <a:p>
            <a:pPr marL="458997" lvl="1" indent="-229499" algn="l">
              <a:lnSpc>
                <a:spcPts val="2976"/>
              </a:lnSpc>
              <a:buFont typeface="Arial"/>
              <a:buChar char="•"/>
            </a:pPr>
            <a:r>
              <a:rPr lang="en-US" sz="21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Integrarea într-o aplicație mobilă pentru medici.</a:t>
            </a:r>
          </a:p>
          <a:p>
            <a:pPr marL="458997" lvl="1" indent="-229499" algn="l">
              <a:lnSpc>
                <a:spcPts val="2976"/>
              </a:lnSpc>
              <a:buFont typeface="Arial"/>
              <a:buChar char="•"/>
            </a:pPr>
            <a:r>
              <a:rPr lang="en-US" sz="21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Extinderea setului de date pentru alte tipuri de cancere.</a:t>
            </a:r>
          </a:p>
          <a:p>
            <a:pPr algn="l">
              <a:lnSpc>
                <a:spcPts val="2976"/>
              </a:lnSpc>
              <a:spcBef>
                <a:spcPct val="0"/>
              </a:spcBef>
            </a:pPr>
            <a:endParaRPr lang="en-US" sz="2125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971</Words>
  <Application>Microsoft Office PowerPoint</Application>
  <PresentationFormat>Custom</PresentationFormat>
  <Paragraphs>98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League Spartan</vt:lpstr>
      <vt:lpstr>Poppins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&amp; white company profile presentation</dc:title>
  <dc:creator>Alex</dc:creator>
  <cp:lastModifiedBy>Andrei Alexandru Molnar</cp:lastModifiedBy>
  <cp:revision>3</cp:revision>
  <dcterms:created xsi:type="dcterms:W3CDTF">2006-08-16T00:00:00Z</dcterms:created>
  <dcterms:modified xsi:type="dcterms:W3CDTF">2026-02-13T19:28:15Z</dcterms:modified>
  <dc:identifier>DAHBIFPsucU</dc:identifier>
</cp:coreProperties>
</file>